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6" r:id="rId4"/>
    <p:sldId id="267" r:id="rId5"/>
    <p:sldId id="268" r:id="rId6"/>
    <p:sldId id="270" r:id="rId7"/>
    <p:sldId id="269" r:id="rId8"/>
    <p:sldId id="272"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1" r:id="rId27"/>
    <p:sldId id="292" r:id="rId28"/>
    <p:sldId id="293" r:id="rId29"/>
    <p:sldId id="294" r:id="rId30"/>
    <p:sldId id="295" r:id="rId31"/>
    <p:sldId id="296" r:id="rId32"/>
    <p:sldId id="298" r:id="rId33"/>
    <p:sldId id="299" r:id="rId34"/>
    <p:sldId id="300" r:id="rId35"/>
    <p:sldId id="301" r:id="rId36"/>
    <p:sldId id="302" r:id="rId37"/>
    <p:sldId id="303" r:id="rId38"/>
    <p:sldId id="304" r:id="rId39"/>
    <p:sldId id="305" r:id="rId40"/>
    <p:sldId id="306" r:id="rId41"/>
    <p:sldId id="307" r:id="rId42"/>
    <p:sldId id="308" r:id="rId43"/>
    <p:sldId id="309" r:id="rId44"/>
    <p:sldId id="310" r:id="rId45"/>
    <p:sldId id="264" r:id="rId46"/>
    <p:sldId id="265" r:id="rId47"/>
    <p:sldId id="312" r:id="rId48"/>
    <p:sldId id="313" r:id="rId4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5E8905-3A9F-4DF8-BE85-8764B14DC0D4}" v="1" dt="2019-04-17T04:06:04.6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94724"/>
  </p:normalViewPr>
  <p:slideViewPr>
    <p:cSldViewPr snapToGrid="0" snapToObjects="1">
      <p:cViewPr varScale="1">
        <p:scale>
          <a:sx n="73" d="100"/>
          <a:sy n="73" d="100"/>
        </p:scale>
        <p:origin x="1080" y="3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 " userId="7df7294e-d88c-40ba-90e5-79451dd84eeb" providerId="ADAL" clId="{865E8905-3A9F-4DF8-BE85-8764B14DC0D4}"/>
    <pc:docChg chg="modSld">
      <pc:chgData name=" " userId="7df7294e-d88c-40ba-90e5-79451dd84eeb" providerId="ADAL" clId="{865E8905-3A9F-4DF8-BE85-8764B14DC0D4}" dt="2019-04-17T04:06:04.677" v="0" actId="1076"/>
      <pc:docMkLst>
        <pc:docMk/>
      </pc:docMkLst>
      <pc:sldChg chg="modSp">
        <pc:chgData name=" " userId="7df7294e-d88c-40ba-90e5-79451dd84eeb" providerId="ADAL" clId="{865E8905-3A9F-4DF8-BE85-8764B14DC0D4}" dt="2019-04-17T04:06:04.677" v="0" actId="1076"/>
        <pc:sldMkLst>
          <pc:docMk/>
          <pc:sldMk cId="3716353229" sldId="259"/>
        </pc:sldMkLst>
        <pc:spChg chg="mod">
          <ac:chgData name=" " userId="7df7294e-d88c-40ba-90e5-79451dd84eeb" providerId="ADAL" clId="{865E8905-3A9F-4DF8-BE85-8764B14DC0D4}" dt="2019-04-17T04:06:04.677" v="0" actId="1076"/>
          <ac:spMkLst>
            <pc:docMk/>
            <pc:sldMk cId="3716353229" sldId="259"/>
            <ac:spMk id="5"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6/20/2026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6/20/2026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6/20/2026</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6/20/2026</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8" Type="http://schemas.openxmlformats.org/officeDocument/2006/relationships/hyperlink" Target="https://www.slideshare.net/drishtibhalla/mid-point-line-algorithm" TargetMode="External"/><Relationship Id="rId3" Type="http://schemas.openxmlformats.org/officeDocument/2006/relationships/hyperlink" Target="https://en.wikipedia.org/wiki/Rasterisation" TargetMode="External"/><Relationship Id="rId7" Type="http://schemas.openxmlformats.org/officeDocument/2006/relationships/hyperlink" Target="https://www.slideshare.net/ManikanthKummarikunt/dda-algorithm-97720869" TargetMode="External"/><Relationship Id="rId2" Type="http://schemas.openxmlformats.org/officeDocument/2006/relationships/hyperlink" Target="https://www.slideshare.net/mohammedarif89/intro-to-scan-conversion" TargetMode="External"/><Relationship Id="rId1" Type="http://schemas.openxmlformats.org/officeDocument/2006/relationships/slideLayout" Target="../slideLayouts/slideLayout9.xml"/><Relationship Id="rId6" Type="http://schemas.openxmlformats.org/officeDocument/2006/relationships/hyperlink" Target="https://en.wikipedia.org/wiki/Digital_differential_analyzer_(graphics_algorithm)" TargetMode="External"/><Relationship Id="rId5" Type="http://schemas.openxmlformats.org/officeDocument/2006/relationships/hyperlink" Target="https://www.tutorialspoint.com/computer_graphics/line_generation_algorithm.htm" TargetMode="External"/><Relationship Id="rId4" Type="http://schemas.openxmlformats.org/officeDocument/2006/relationships/hyperlink" Target="http://resources.mpi-inf.mpg.de/departments/d4/teaching/ws200708/cg/slides/CG16-RasterizationClipping.pdf" TargetMode="External"/><Relationship Id="rId9" Type="http://schemas.openxmlformats.org/officeDocument/2006/relationships/hyperlink" Target="https://en.wikipedia.org/wiki/Bresenham's_line_algorithm"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Scan Conversation (Part 1)</a:t>
            </a:r>
          </a:p>
        </p:txBody>
      </p:sp>
      <p:sp>
        <p:nvSpPr>
          <p:cNvPr id="3" name="Subtitle 2"/>
          <p:cNvSpPr>
            <a:spLocks noGrp="1"/>
          </p:cNvSpPr>
          <p:nvPr>
            <p:ph type="subTitle" idx="1"/>
          </p:nvPr>
        </p:nvSpPr>
        <p:spPr>
          <a:xfrm>
            <a:off x="476205" y="1532427"/>
            <a:ext cx="2789509" cy="484632"/>
          </a:xfrm>
        </p:spPr>
        <p:txBody>
          <a:bodyPr/>
          <a:lstStyle/>
          <a:p>
            <a:r>
              <a:rPr lang="en-US" dirty="0"/>
              <a:t>Course Code: CSC 3224</a:t>
            </a:r>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4057468776"/>
              </p:ext>
            </p:extLst>
          </p:nvPr>
        </p:nvGraphicFramePr>
        <p:xfrm>
          <a:off x="476205" y="5186042"/>
          <a:ext cx="8335798" cy="744496"/>
        </p:xfrm>
        <a:graphic>
          <a:graphicData uri="http://schemas.openxmlformats.org/drawingml/2006/table">
            <a:tbl>
              <a:tblPr firstRow="1" bandRow="1">
                <a:tableStyleId>{D7AC3CCA-C797-4891-BE02-D94E43425B78}</a:tableStyleId>
              </a:tblPr>
              <a:tblGrid>
                <a:gridCol w="1814149">
                  <a:extLst>
                    <a:ext uri="{9D8B030D-6E8A-4147-A177-3AD203B41FA5}">
                      <a16:colId xmlns:a16="http://schemas.microsoft.com/office/drawing/2014/main" val="3905988420"/>
                    </a:ext>
                  </a:extLst>
                </a:gridCol>
                <a:gridCol w="1066800">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281165">
                  <a:extLst>
                    <a:ext uri="{9D8B030D-6E8A-4147-A177-3AD203B41FA5}">
                      <a16:colId xmlns:a16="http://schemas.microsoft.com/office/drawing/2014/main" val="1762131981"/>
                    </a:ext>
                  </a:extLst>
                </a:gridCol>
                <a:gridCol w="1153550">
                  <a:extLst>
                    <a:ext uri="{9D8B030D-6E8A-4147-A177-3AD203B41FA5}">
                      <a16:colId xmlns:a16="http://schemas.microsoft.com/office/drawing/2014/main" val="445458238"/>
                    </a:ext>
                  </a:extLst>
                </a:gridCol>
                <a:gridCol w="1792225">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05-07</a:t>
                      </a:r>
                    </a:p>
                  </a:txBody>
                  <a:tcPr/>
                </a:tc>
                <a:tc>
                  <a:txBody>
                    <a:bodyPr/>
                    <a:lstStyle/>
                    <a:p>
                      <a:r>
                        <a:rPr lang="en-US" dirty="0"/>
                        <a:t>Week No:</a:t>
                      </a:r>
                    </a:p>
                  </a:txBody>
                  <a:tcPr/>
                </a:tc>
                <a:tc>
                  <a:txBody>
                    <a:bodyPr/>
                    <a:lstStyle/>
                    <a:p>
                      <a:r>
                        <a:rPr lang="en-US"/>
                        <a:t>03-04</a:t>
                      </a:r>
                    </a:p>
                  </a:txBody>
                  <a:tcPr/>
                </a:tc>
                <a:tc>
                  <a:txBody>
                    <a:bodyPr/>
                    <a:lstStyle/>
                    <a:p>
                      <a:r>
                        <a:rPr lang="en-US" dirty="0"/>
                        <a:t>Semester: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Summer 25-26</a:t>
                      </a:r>
                    </a:p>
                  </a:txBody>
                  <a:tcPr/>
                </a:tc>
                <a:extLst>
                  <a:ext uri="{0D108BD9-81ED-4DB2-BD59-A6C34878D82A}">
                    <a16:rowId xmlns:a16="http://schemas.microsoft.com/office/drawing/2014/main" val="219704021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Senior Lecturer:</a:t>
                      </a:r>
                    </a:p>
                  </a:txBody>
                  <a:tcPr/>
                </a:tc>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dirty="0"/>
                        <a:t>Kazi Asif Ahmed,   kazi.asif@aiub.edu</a:t>
                      </a:r>
                      <a:endParaRPr lang="en-US" b="1" i="0" dirty="0"/>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Computer Graphics</a:t>
            </a:r>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Lecture Outline</a:t>
            </a:r>
          </a:p>
        </p:txBody>
      </p:sp>
      <p:sp>
        <p:nvSpPr>
          <p:cNvPr id="3" name="Subtitle 2"/>
          <p:cNvSpPr>
            <a:spLocks noGrp="1"/>
          </p:cNvSpPr>
          <p:nvPr>
            <p:ph type="subTitle" idx="1"/>
          </p:nvPr>
        </p:nvSpPr>
        <p:spPr>
          <a:xfrm>
            <a:off x="486696" y="2363928"/>
            <a:ext cx="7905135" cy="3638666"/>
          </a:xfrm>
        </p:spPr>
        <p:txBody>
          <a:bodyPr>
            <a:normAutofit/>
          </a:bodyPr>
          <a:lstStyle/>
          <a:p>
            <a:pPr marL="342900" indent="-342900">
              <a:buAutoNum type="arabicPeriod"/>
            </a:pPr>
            <a:r>
              <a:rPr lang="en-US" sz="2300" dirty="0">
                <a:solidFill>
                  <a:schemeClr val="tx1"/>
                </a:solidFill>
              </a:rPr>
              <a:t>What is Scan Conversation?</a:t>
            </a:r>
          </a:p>
          <a:p>
            <a:pPr marL="342900" indent="-342900">
              <a:buAutoNum type="arabicPeriod"/>
            </a:pPr>
            <a:r>
              <a:rPr lang="en-US" sz="2300" dirty="0">
                <a:solidFill>
                  <a:schemeClr val="tx1"/>
                </a:solidFill>
              </a:rPr>
              <a:t>What is </a:t>
            </a:r>
            <a:r>
              <a:rPr lang="en-US" sz="2300" dirty="0" err="1">
                <a:solidFill>
                  <a:schemeClr val="tx1"/>
                </a:solidFill>
              </a:rPr>
              <a:t>Rasterisation</a:t>
            </a:r>
            <a:r>
              <a:rPr lang="en-US" sz="2300" dirty="0">
                <a:solidFill>
                  <a:schemeClr val="tx1"/>
                </a:solidFill>
              </a:rPr>
              <a:t>?</a:t>
            </a:r>
          </a:p>
          <a:p>
            <a:pPr marL="342900" indent="-342900">
              <a:buAutoNum type="arabicPeriod"/>
            </a:pPr>
            <a:r>
              <a:rPr lang="en-US" sz="2300" dirty="0">
                <a:solidFill>
                  <a:schemeClr val="tx1"/>
                </a:solidFill>
              </a:rPr>
              <a:t>What is Incremental Algorithm?</a:t>
            </a:r>
          </a:p>
          <a:p>
            <a:pPr marL="342900" indent="-342900">
              <a:buAutoNum type="arabicPeriod"/>
            </a:pPr>
            <a:r>
              <a:rPr lang="en-US" sz="2300" dirty="0">
                <a:solidFill>
                  <a:schemeClr val="tx1"/>
                </a:solidFill>
              </a:rPr>
              <a:t>Characteristics of Incremental Algorithm.</a:t>
            </a:r>
          </a:p>
          <a:p>
            <a:pPr marL="342900" indent="-342900">
              <a:buAutoNum type="arabicPeriod"/>
            </a:pPr>
            <a:r>
              <a:rPr lang="en-US" sz="2300" dirty="0">
                <a:solidFill>
                  <a:schemeClr val="tx1"/>
                </a:solidFill>
              </a:rPr>
              <a:t>DDA Line Incremental Algorithm (Derivation)</a:t>
            </a:r>
          </a:p>
          <a:p>
            <a:pPr marL="342900" indent="-342900">
              <a:buAutoNum type="arabicPeriod"/>
            </a:pPr>
            <a:r>
              <a:rPr lang="en-US" sz="2300" dirty="0">
                <a:solidFill>
                  <a:schemeClr val="tx1"/>
                </a:solidFill>
              </a:rPr>
              <a:t>DDA Line Incremental Algorithm (Mathematics)</a:t>
            </a:r>
          </a:p>
          <a:p>
            <a:pPr marL="342900" indent="-342900">
              <a:buAutoNum type="arabicPeriod"/>
            </a:pPr>
            <a:r>
              <a:rPr lang="en-US" sz="2300" dirty="0">
                <a:solidFill>
                  <a:schemeClr val="tx1"/>
                </a:solidFill>
              </a:rPr>
              <a:t>Disadvantages of DDA Line Incremental Algorithm</a:t>
            </a:r>
          </a:p>
          <a:p>
            <a:pPr marL="342900" indent="-342900">
              <a:buAutoNum type="arabicPeriod"/>
            </a:pPr>
            <a:r>
              <a:rPr lang="en-US" sz="2300" dirty="0">
                <a:solidFill>
                  <a:schemeClr val="tx1"/>
                </a:solidFill>
              </a:rPr>
              <a:t>Midpoint Line Algorithm (Derivation)</a:t>
            </a:r>
          </a:p>
          <a:p>
            <a:pPr marL="342900" indent="-342900">
              <a:buAutoNum type="arabicPeriod"/>
            </a:pPr>
            <a:r>
              <a:rPr lang="en-US" sz="2300" dirty="0">
                <a:solidFill>
                  <a:schemeClr val="tx1"/>
                </a:solidFill>
              </a:rPr>
              <a:t>Midpoint Line Algorithm (Mathematics)</a:t>
            </a:r>
          </a:p>
          <a:p>
            <a:pPr marL="342900" indent="-342900">
              <a:buAutoNum type="arabicPeriod"/>
            </a:pPr>
            <a:r>
              <a:rPr lang="en-US" sz="2300" dirty="0">
                <a:solidFill>
                  <a:schemeClr val="tx1"/>
                </a:solidFill>
              </a:rPr>
              <a:t>Advantages of Midpoint Line Algorithm</a:t>
            </a: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a:p>
            <a:pPr marL="342900" indent="-342900">
              <a:buAutoNum type="arabicPeriod"/>
            </a:pPr>
            <a:endParaRPr lang="en-US" dirty="0">
              <a:solidFill>
                <a:schemeClr val="tx1"/>
              </a:solidFill>
            </a:endParaRPr>
          </a:p>
        </p:txBody>
      </p:sp>
    </p:spTree>
    <p:extLst>
      <p:ext uri="{BB962C8B-B14F-4D97-AF65-F5344CB8AC3E}">
        <p14:creationId xmlns:p14="http://schemas.microsoft.com/office/powerpoint/2010/main" val="424874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Scan Conversation</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2540311" cy="369332"/>
          </a:xfrm>
          <a:prstGeom prst="rect">
            <a:avLst/>
          </a:prstGeom>
          <a:noFill/>
        </p:spPr>
        <p:txBody>
          <a:bodyPr wrap="none" rtlCol="0">
            <a:spAutoFit/>
          </a:bodyPr>
          <a:lstStyle/>
          <a:p>
            <a:r>
              <a:rPr lang="x-none" dirty="0"/>
              <a:t>Modify as appropriate…..</a:t>
            </a:r>
          </a:p>
        </p:txBody>
      </p:sp>
      <p:pic>
        <p:nvPicPr>
          <p:cNvPr id="7" name="Picture 2"/>
          <p:cNvPicPr>
            <a:picLocks noChangeAspect="1" noChangeArrowheads="1"/>
          </p:cNvPicPr>
          <p:nvPr/>
        </p:nvPicPr>
        <p:blipFill>
          <a:blip r:embed="rId2"/>
          <a:srcRect/>
          <a:stretch>
            <a:fillRect/>
          </a:stretch>
        </p:blipFill>
        <p:spPr bwMode="auto">
          <a:xfrm>
            <a:off x="310433" y="2237104"/>
            <a:ext cx="8229600" cy="3745657"/>
          </a:xfrm>
          <a:prstGeom prst="rect">
            <a:avLst/>
          </a:prstGeom>
          <a:noFill/>
          <a:ln w="9525">
            <a:noFill/>
            <a:miter lim="800000"/>
            <a:headEnd/>
            <a:tailEnd/>
          </a:ln>
          <a:effectLst/>
        </p:spPr>
      </p:pic>
    </p:spTree>
    <p:extLst>
      <p:ext uri="{BB962C8B-B14F-4D97-AF65-F5344CB8AC3E}">
        <p14:creationId xmlns:p14="http://schemas.microsoft.com/office/powerpoint/2010/main" val="2134390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Rasterisation</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309717" y="2435898"/>
            <a:ext cx="8214852" cy="2800767"/>
          </a:xfrm>
          <a:prstGeom prst="rect">
            <a:avLst/>
          </a:prstGeom>
          <a:noFill/>
        </p:spPr>
        <p:txBody>
          <a:bodyPr wrap="square" rtlCol="0">
            <a:spAutoFit/>
          </a:bodyPr>
          <a:lstStyle/>
          <a:p>
            <a:pPr algn="just"/>
            <a:r>
              <a:rPr lang="en-US" sz="2800" dirty="0" err="1"/>
              <a:t>Rasterisation</a:t>
            </a:r>
            <a:r>
              <a:rPr lang="en-US" sz="2800" dirty="0"/>
              <a:t> (or rasterization) is the task of taking an image described in a vector graphics format (shapes) and converting it into a raster image (pixels or dots) for output on a video display or printer, or for storage in a bitmap file format.</a:t>
            </a:r>
          </a:p>
          <a:p>
            <a:endParaRPr lang="en-US" dirty="0"/>
          </a:p>
          <a:p>
            <a:endParaRPr lang="x-none" dirty="0"/>
          </a:p>
        </p:txBody>
      </p:sp>
    </p:spTree>
    <p:extLst>
      <p:ext uri="{BB962C8B-B14F-4D97-AF65-F5344CB8AC3E}">
        <p14:creationId xmlns:p14="http://schemas.microsoft.com/office/powerpoint/2010/main" val="3132154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Incremental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8"/>
            <a:ext cx="7740796" cy="3600986"/>
          </a:xfrm>
          <a:prstGeom prst="rect">
            <a:avLst/>
          </a:prstGeom>
          <a:noFill/>
        </p:spPr>
        <p:txBody>
          <a:bodyPr wrap="square" rtlCol="0">
            <a:spAutoFit/>
          </a:bodyPr>
          <a:lstStyle/>
          <a:p>
            <a:pPr>
              <a:buFont typeface="Wingdings" panose="05000000000000000000" pitchFamily="2" charset="2"/>
              <a:buChar char="q"/>
            </a:pPr>
            <a:r>
              <a:rPr lang="en-US" sz="3200" dirty="0"/>
              <a:t>Incremental Algorithm is a line drawing algorithm</a:t>
            </a:r>
          </a:p>
          <a:p>
            <a:endParaRPr lang="en-US" sz="3200" dirty="0"/>
          </a:p>
          <a:p>
            <a:pPr>
              <a:buFont typeface="Wingdings" panose="05000000000000000000" pitchFamily="2" charset="2"/>
              <a:buChar char="ü"/>
            </a:pPr>
            <a:r>
              <a:rPr lang="en-US" sz="3200" dirty="0"/>
              <a:t>Start from initial pixel to reach final pixel to draw a line</a:t>
            </a:r>
          </a:p>
          <a:p>
            <a:endParaRPr lang="en-US" sz="3200" dirty="0"/>
          </a:p>
          <a:p>
            <a:endParaRPr lang="en-US" dirty="0"/>
          </a:p>
          <a:p>
            <a:endParaRPr lang="x-none" dirty="0"/>
          </a:p>
        </p:txBody>
      </p:sp>
    </p:spTree>
    <p:extLst>
      <p:ext uri="{BB962C8B-B14F-4D97-AF65-F5344CB8AC3E}">
        <p14:creationId xmlns:p14="http://schemas.microsoft.com/office/powerpoint/2010/main" val="8816984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Incremental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Finding the next pixel</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8"/>
            <a:ext cx="7740796" cy="1138773"/>
          </a:xfrm>
          <a:prstGeom prst="rect">
            <a:avLst/>
          </a:prstGeom>
          <a:noFill/>
        </p:spPr>
        <p:txBody>
          <a:bodyPr wrap="square" rtlCol="0">
            <a:spAutoFit/>
          </a:bodyPr>
          <a:lstStyle/>
          <a:p>
            <a:endParaRPr lang="en-US" sz="3200" dirty="0"/>
          </a:p>
          <a:p>
            <a:endParaRPr lang="en-US" dirty="0"/>
          </a:p>
          <a:p>
            <a:endParaRPr lang="x-none" dirty="0"/>
          </a:p>
        </p:txBody>
      </p:sp>
      <p:pic>
        <p:nvPicPr>
          <p:cNvPr id="6" name="Picture 2"/>
          <p:cNvPicPr>
            <a:picLocks noChangeAspect="1" noChangeArrowheads="1"/>
          </p:cNvPicPr>
          <p:nvPr/>
        </p:nvPicPr>
        <p:blipFill>
          <a:blip r:embed="rId2"/>
          <a:srcRect/>
          <a:stretch>
            <a:fillRect/>
          </a:stretch>
        </p:blipFill>
        <p:spPr bwMode="auto">
          <a:xfrm>
            <a:off x="421341" y="2286000"/>
            <a:ext cx="8229600" cy="3790335"/>
          </a:xfrm>
          <a:prstGeom prst="rect">
            <a:avLst/>
          </a:prstGeom>
          <a:noFill/>
          <a:ln w="9525">
            <a:noFill/>
            <a:miter lim="800000"/>
            <a:headEnd/>
            <a:tailEnd/>
          </a:ln>
          <a:effectLst/>
        </p:spPr>
      </p:pic>
    </p:spTree>
    <p:extLst>
      <p:ext uri="{BB962C8B-B14F-4D97-AF65-F5344CB8AC3E}">
        <p14:creationId xmlns:p14="http://schemas.microsoft.com/office/powerpoint/2010/main" val="11310232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Incremental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Requirements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238081" y="2435898"/>
            <a:ext cx="7740796" cy="2554545"/>
          </a:xfrm>
          <a:prstGeom prst="rect">
            <a:avLst/>
          </a:prstGeom>
          <a:noFill/>
        </p:spPr>
        <p:txBody>
          <a:bodyPr wrap="square" rtlCol="0">
            <a:spAutoFit/>
          </a:bodyPr>
          <a:lstStyle/>
          <a:p>
            <a:pPr>
              <a:buFont typeface="Wingdings" panose="05000000000000000000" pitchFamily="2" charset="2"/>
              <a:buChar char="v"/>
            </a:pPr>
            <a:r>
              <a:rPr lang="en-US" sz="3200" dirty="0"/>
              <a:t>Three Requirements: </a:t>
            </a:r>
          </a:p>
          <a:p>
            <a:pPr marL="118872" indent="0">
              <a:buNone/>
            </a:pPr>
            <a:endParaRPr lang="en-US" sz="3200" dirty="0"/>
          </a:p>
          <a:p>
            <a:pPr>
              <a:buFont typeface="Wingdings" panose="05000000000000000000" pitchFamily="2" charset="2"/>
              <a:buChar char="Ø"/>
            </a:pPr>
            <a:r>
              <a:rPr lang="en-US" sz="3200" dirty="0"/>
              <a:t>Integer Pixel Grid</a:t>
            </a:r>
          </a:p>
          <a:p>
            <a:pPr>
              <a:buFont typeface="Wingdings" panose="05000000000000000000" pitchFamily="2" charset="2"/>
              <a:buChar char="Ø"/>
            </a:pPr>
            <a:r>
              <a:rPr lang="en-US" sz="3200" dirty="0"/>
              <a:t>Slope</a:t>
            </a:r>
          </a:p>
          <a:p>
            <a:pPr>
              <a:buFont typeface="Wingdings" panose="05000000000000000000" pitchFamily="2" charset="2"/>
              <a:buChar char="Ø"/>
            </a:pPr>
            <a:r>
              <a:rPr lang="en-US" sz="3200" dirty="0"/>
              <a:t>Disjoint Pixel</a:t>
            </a:r>
          </a:p>
        </p:txBody>
      </p:sp>
    </p:spTree>
    <p:extLst>
      <p:ext uri="{BB962C8B-B14F-4D97-AF65-F5344CB8AC3E}">
        <p14:creationId xmlns:p14="http://schemas.microsoft.com/office/powerpoint/2010/main" val="41230979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Incremental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Integer Pixel Grid</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8"/>
            <a:ext cx="7740796" cy="1138773"/>
          </a:xfrm>
          <a:prstGeom prst="rect">
            <a:avLst/>
          </a:prstGeom>
          <a:noFill/>
        </p:spPr>
        <p:txBody>
          <a:bodyPr wrap="square" rtlCol="0">
            <a:spAutoFit/>
          </a:bodyPr>
          <a:lstStyle/>
          <a:p>
            <a:endParaRPr lang="en-US" sz="3200" dirty="0"/>
          </a:p>
          <a:p>
            <a:endParaRPr lang="en-US" dirty="0"/>
          </a:p>
          <a:p>
            <a:endParaRPr lang="x-none"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2435898"/>
            <a:ext cx="6781800" cy="3640437"/>
          </a:xfrm>
          <a:prstGeom prst="rect">
            <a:avLst/>
          </a:prstGeom>
        </p:spPr>
      </p:pic>
    </p:spTree>
    <p:extLst>
      <p:ext uri="{BB962C8B-B14F-4D97-AF65-F5344CB8AC3E}">
        <p14:creationId xmlns:p14="http://schemas.microsoft.com/office/powerpoint/2010/main" val="2713826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Incremental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Slope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8"/>
            <a:ext cx="7740796" cy="1138773"/>
          </a:xfrm>
          <a:prstGeom prst="rect">
            <a:avLst/>
          </a:prstGeom>
          <a:noFill/>
        </p:spPr>
        <p:txBody>
          <a:bodyPr wrap="square" rtlCol="0">
            <a:spAutoFit/>
          </a:bodyPr>
          <a:lstStyle/>
          <a:p>
            <a:endParaRPr lang="en-US" sz="3200" dirty="0"/>
          </a:p>
          <a:p>
            <a:endParaRPr lang="en-US" dirty="0"/>
          </a:p>
          <a:p>
            <a:endParaRPr lang="x-none" dirty="0"/>
          </a:p>
        </p:txBody>
      </p:sp>
      <p:pic>
        <p:nvPicPr>
          <p:cNvPr id="7"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2435898"/>
            <a:ext cx="4343400" cy="3419212"/>
          </a:xfrm>
          <a:prstGeom prst="rect">
            <a:avLst/>
          </a:prstGeom>
        </p:spPr>
      </p:pic>
    </p:spTree>
    <p:extLst>
      <p:ext uri="{BB962C8B-B14F-4D97-AF65-F5344CB8AC3E}">
        <p14:creationId xmlns:p14="http://schemas.microsoft.com/office/powerpoint/2010/main" val="1560670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Incremental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Disjoint Pixel</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8"/>
            <a:ext cx="7740796" cy="1138773"/>
          </a:xfrm>
          <a:prstGeom prst="rect">
            <a:avLst/>
          </a:prstGeom>
          <a:noFill/>
        </p:spPr>
        <p:txBody>
          <a:bodyPr wrap="square" rtlCol="0">
            <a:spAutoFit/>
          </a:bodyPr>
          <a:lstStyle/>
          <a:p>
            <a:endParaRPr lang="en-US" sz="3200" dirty="0"/>
          </a:p>
          <a:p>
            <a:endParaRPr lang="en-US" dirty="0"/>
          </a:p>
          <a:p>
            <a:endParaRPr lang="x-none"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44270" y="2713703"/>
            <a:ext cx="6019800" cy="3124200"/>
          </a:xfrm>
          <a:prstGeom prst="rect">
            <a:avLst/>
          </a:prstGeom>
        </p:spPr>
      </p:pic>
    </p:spTree>
    <p:extLst>
      <p:ext uri="{BB962C8B-B14F-4D97-AF65-F5344CB8AC3E}">
        <p14:creationId xmlns:p14="http://schemas.microsoft.com/office/powerpoint/2010/main" val="3922389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600" dirty="0"/>
              <a:t>Digital Differential Analyzer (DDA)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err="1"/>
              <a:t>Bresenham's</a:t>
            </a:r>
            <a:r>
              <a:rPr lang="en-US" dirty="0"/>
              <a:t> Incremental Algorithm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8"/>
            <a:ext cx="7740796" cy="2523768"/>
          </a:xfrm>
          <a:prstGeom prst="rect">
            <a:avLst/>
          </a:prstGeom>
          <a:noFill/>
        </p:spPr>
        <p:txBody>
          <a:bodyPr wrap="square" rtlCol="0">
            <a:spAutoFit/>
          </a:bodyPr>
          <a:lstStyle/>
          <a:p>
            <a:pPr algn="just"/>
            <a:r>
              <a:rPr lang="en-US" sz="2800" dirty="0"/>
              <a:t>In computer graphics, a digital differential analyzer (DDA) is hardware or software used for interpolation of variables over an interval between start and end point. DDAs are used for rasterization of lines, triangles and polygons.(graphics algorithm)</a:t>
            </a:r>
          </a:p>
          <a:p>
            <a:pPr algn="just"/>
            <a:endParaRPr lang="x-none" dirty="0"/>
          </a:p>
        </p:txBody>
      </p:sp>
    </p:spTree>
    <p:extLst>
      <p:ext uri="{BB962C8B-B14F-4D97-AF65-F5344CB8AC3E}">
        <p14:creationId xmlns:p14="http://schemas.microsoft.com/office/powerpoint/2010/main" val="42770837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600" dirty="0"/>
              <a:t>Digital Differential Analyzer (DDA)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Derivation</a:t>
            </a:r>
            <a:endParaRPr lang="x-none" dirty="0"/>
          </a:p>
        </p:txBody>
      </p:sp>
      <p:pic>
        <p:nvPicPr>
          <p:cNvPr id="7"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2197511"/>
            <a:ext cx="6781800" cy="3657600"/>
          </a:xfrm>
          <a:prstGeom prst="rect">
            <a:avLst/>
          </a:prstGeom>
        </p:spPr>
      </p:pic>
    </p:spTree>
    <p:extLst>
      <p:ext uri="{BB962C8B-B14F-4D97-AF65-F5344CB8AC3E}">
        <p14:creationId xmlns:p14="http://schemas.microsoft.com/office/powerpoint/2010/main" val="13319585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600" dirty="0"/>
              <a:t>Digital Differential Analyzer (DDA)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Derivation (if m&lt;1)</a:t>
            </a:r>
            <a:endParaRPr lang="x-none"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1" y="2477863"/>
            <a:ext cx="6410730" cy="3450989"/>
          </a:xfrm>
          <a:prstGeom prst="rect">
            <a:avLst/>
          </a:prstGeom>
        </p:spPr>
      </p:pic>
    </p:spTree>
    <p:extLst>
      <p:ext uri="{BB962C8B-B14F-4D97-AF65-F5344CB8AC3E}">
        <p14:creationId xmlns:p14="http://schemas.microsoft.com/office/powerpoint/2010/main" val="2781339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600" dirty="0"/>
              <a:t>Digital Differential Analyzer (DDA)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Derivation</a:t>
            </a:r>
            <a:endParaRPr lang="x-none" dirty="0"/>
          </a:p>
        </p:txBody>
      </p:sp>
      <p:pic>
        <p:nvPicPr>
          <p:cNvPr id="7"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2241754"/>
            <a:ext cx="5943599" cy="3687097"/>
          </a:xfrm>
          <a:prstGeom prst="rect">
            <a:avLst/>
          </a:prstGeom>
        </p:spPr>
      </p:pic>
    </p:spTree>
    <p:extLst>
      <p:ext uri="{BB962C8B-B14F-4D97-AF65-F5344CB8AC3E}">
        <p14:creationId xmlns:p14="http://schemas.microsoft.com/office/powerpoint/2010/main" val="961939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600" dirty="0"/>
              <a:t>Digital Differential Analyzer (DDA)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Derivation (if m&lt;1)</a:t>
            </a:r>
            <a:endParaRPr lang="x-none"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2477863"/>
            <a:ext cx="4748481" cy="3377247"/>
          </a:xfrm>
          <a:prstGeom prst="rect">
            <a:avLst/>
          </a:prstGeom>
        </p:spPr>
      </p:pic>
    </p:spTree>
    <p:extLst>
      <p:ext uri="{BB962C8B-B14F-4D97-AF65-F5344CB8AC3E}">
        <p14:creationId xmlns:p14="http://schemas.microsoft.com/office/powerpoint/2010/main" val="2814003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600" dirty="0"/>
              <a:t>Digital Differential Analyzer (DDA)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Derivation (if m&lt;1)</a:t>
            </a:r>
            <a:endParaRPr lang="x-none" dirty="0"/>
          </a:p>
        </p:txBody>
      </p:sp>
      <p:pic>
        <p:nvPicPr>
          <p:cNvPr id="7"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1761" y="2420768"/>
            <a:ext cx="5257800" cy="3065632"/>
          </a:xfrm>
          <a:prstGeom prst="rect">
            <a:avLst/>
          </a:prstGeom>
        </p:spPr>
      </p:pic>
    </p:spTree>
    <p:extLst>
      <p:ext uri="{BB962C8B-B14F-4D97-AF65-F5344CB8AC3E}">
        <p14:creationId xmlns:p14="http://schemas.microsoft.com/office/powerpoint/2010/main" val="265283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600" dirty="0"/>
              <a:t>Digital Differential Analyzer (DDA)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Derivation (if m&gt;1 and m=1)</a:t>
            </a:r>
            <a:endParaRPr lang="x-none" dirty="0"/>
          </a:p>
        </p:txBody>
      </p:sp>
      <p:sp>
        <p:nvSpPr>
          <p:cNvPr id="3" name="Rectangle 2"/>
          <p:cNvSpPr/>
          <p:nvPr/>
        </p:nvSpPr>
        <p:spPr>
          <a:xfrm>
            <a:off x="1179870" y="2648635"/>
            <a:ext cx="6430297" cy="3108543"/>
          </a:xfrm>
          <a:prstGeom prst="rect">
            <a:avLst/>
          </a:prstGeom>
        </p:spPr>
        <p:txBody>
          <a:bodyPr wrap="square">
            <a:spAutoFit/>
          </a:bodyPr>
          <a:lstStyle/>
          <a:p>
            <a:r>
              <a:rPr lang="es-ES" sz="2800" b="1" dirty="0" err="1"/>
              <a:t>if</a:t>
            </a:r>
            <a:r>
              <a:rPr lang="es-ES" sz="2800" b="1" dirty="0"/>
              <a:t> m&gt;1</a:t>
            </a:r>
          </a:p>
          <a:p>
            <a:r>
              <a:rPr lang="es-ES" sz="2800" dirty="0"/>
              <a:t>x1 = round(x + 1 /m) </a:t>
            </a:r>
          </a:p>
          <a:p>
            <a:r>
              <a:rPr lang="es-ES" sz="2800" dirty="0"/>
              <a:t>y1 = y + 1 </a:t>
            </a:r>
          </a:p>
          <a:p>
            <a:endParaRPr lang="es-ES" sz="2800" dirty="0"/>
          </a:p>
          <a:p>
            <a:r>
              <a:rPr lang="es-ES" sz="2800" b="1" dirty="0" err="1"/>
              <a:t>if</a:t>
            </a:r>
            <a:r>
              <a:rPr lang="es-ES" sz="2800" b="1" dirty="0"/>
              <a:t> m=1</a:t>
            </a:r>
          </a:p>
          <a:p>
            <a:r>
              <a:rPr lang="es-ES" sz="2800" dirty="0"/>
              <a:t>x1=x+1</a:t>
            </a:r>
          </a:p>
          <a:p>
            <a:r>
              <a:rPr lang="es-ES" sz="2800" dirty="0"/>
              <a:t>y1=y+1</a:t>
            </a:r>
            <a:endParaRPr lang="en-US" sz="2800" dirty="0"/>
          </a:p>
        </p:txBody>
      </p:sp>
    </p:spTree>
    <p:extLst>
      <p:ext uri="{BB962C8B-B14F-4D97-AF65-F5344CB8AC3E}">
        <p14:creationId xmlns:p14="http://schemas.microsoft.com/office/powerpoint/2010/main" val="1486077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600" dirty="0"/>
              <a:t>Digital Differential Analyzer (DDA)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Mathematics (Question)</a:t>
            </a:r>
            <a:endParaRPr lang="x-none"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1131" y="2129760"/>
            <a:ext cx="2781300" cy="357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399338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600" dirty="0"/>
              <a:t>Digital Differential Analyzer (DDA)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Mathematics (Solve):  Calculate Slope m and 1</a:t>
            </a:r>
            <a:r>
              <a:rPr lang="en-US" baseline="30000" dirty="0"/>
              <a:t>st</a:t>
            </a:r>
            <a:r>
              <a:rPr lang="en-US" dirty="0"/>
              <a:t> Pixel </a:t>
            </a:r>
            <a:endParaRPr lang="x-none" dirty="0"/>
          </a:p>
        </p:txBody>
      </p:sp>
      <p:pic>
        <p:nvPicPr>
          <p:cNvPr id="6" name="Content Placeholder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2359742"/>
            <a:ext cx="6929115" cy="3392129"/>
          </a:xfrm>
          <a:prstGeom prst="rect">
            <a:avLst/>
          </a:prstGeom>
        </p:spPr>
      </p:pic>
    </p:spTree>
    <p:extLst>
      <p:ext uri="{BB962C8B-B14F-4D97-AF65-F5344CB8AC3E}">
        <p14:creationId xmlns:p14="http://schemas.microsoft.com/office/powerpoint/2010/main" val="10333174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600" dirty="0"/>
              <a:t>Digital Differential Analyzer (DDA)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Mathematics (Solve): Calculate 2</a:t>
            </a:r>
            <a:r>
              <a:rPr lang="en-US" baseline="30000" dirty="0"/>
              <a:t>nd</a:t>
            </a:r>
            <a:r>
              <a:rPr lang="en-US" dirty="0"/>
              <a:t> pixel</a:t>
            </a:r>
            <a:endParaRPr lang="x-none" dirty="0"/>
          </a:p>
        </p:txBody>
      </p:sp>
      <p:pic>
        <p:nvPicPr>
          <p:cNvPr id="7"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547" y="2227006"/>
            <a:ext cx="7020905" cy="3716593"/>
          </a:xfrm>
          <a:prstGeom prst="rect">
            <a:avLst/>
          </a:prstGeom>
        </p:spPr>
      </p:pic>
    </p:spTree>
    <p:extLst>
      <p:ext uri="{BB962C8B-B14F-4D97-AF65-F5344CB8AC3E}">
        <p14:creationId xmlns:p14="http://schemas.microsoft.com/office/powerpoint/2010/main" val="34797236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600" dirty="0"/>
              <a:t>Digital Differential Analyzer (DDA)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Mathematics (Solve): Calculate 3</a:t>
            </a:r>
            <a:r>
              <a:rPr lang="en-US" baseline="30000" dirty="0"/>
              <a:t>rd</a:t>
            </a:r>
            <a:r>
              <a:rPr lang="en-US" dirty="0"/>
              <a:t> pixel</a:t>
            </a:r>
            <a:endParaRPr lang="x-none" dirty="0"/>
          </a:p>
        </p:txBody>
      </p:sp>
      <p:pic>
        <p:nvPicPr>
          <p:cNvPr id="8"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7800" y="2362200"/>
            <a:ext cx="5805861" cy="3467584"/>
          </a:xfrm>
          <a:prstGeom prst="rect">
            <a:avLst/>
          </a:prstGeom>
        </p:spPr>
      </p:pic>
    </p:spTree>
    <p:extLst>
      <p:ext uri="{BB962C8B-B14F-4D97-AF65-F5344CB8AC3E}">
        <p14:creationId xmlns:p14="http://schemas.microsoft.com/office/powerpoint/2010/main" val="2705226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600" dirty="0"/>
              <a:t>Digital Differential Analyzer (DDA)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Mathematics (Solve): Calculate  Final pixel</a:t>
            </a:r>
            <a:endParaRPr lang="x-none"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8364" y="2053941"/>
            <a:ext cx="5887272" cy="4067743"/>
          </a:xfrm>
          <a:prstGeom prst="rect">
            <a:avLst/>
          </a:prstGeom>
        </p:spPr>
      </p:pic>
    </p:spTree>
    <p:extLst>
      <p:ext uri="{BB962C8B-B14F-4D97-AF65-F5344CB8AC3E}">
        <p14:creationId xmlns:p14="http://schemas.microsoft.com/office/powerpoint/2010/main" val="37840969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600" dirty="0"/>
              <a:t>Digital Differential Analyzer (DDA)</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Disadvantages</a:t>
            </a:r>
            <a:endParaRPr lang="x-none" dirty="0"/>
          </a:p>
        </p:txBody>
      </p:sp>
      <p:sp>
        <p:nvSpPr>
          <p:cNvPr id="3" name="Rectangle 2"/>
          <p:cNvSpPr/>
          <p:nvPr/>
        </p:nvSpPr>
        <p:spPr>
          <a:xfrm>
            <a:off x="752168" y="2448232"/>
            <a:ext cx="7860890" cy="3600986"/>
          </a:xfrm>
          <a:prstGeom prst="rect">
            <a:avLst/>
          </a:prstGeom>
        </p:spPr>
        <p:txBody>
          <a:bodyPr wrap="square">
            <a:spAutoFit/>
          </a:bodyPr>
          <a:lstStyle/>
          <a:p>
            <a:endParaRPr lang="en-US" dirty="0"/>
          </a:p>
          <a:p>
            <a:pPr marL="285750" indent="-285750" algn="just">
              <a:buFont typeface="Arial" pitchFamily="34" charset="0"/>
              <a:buChar char="•"/>
            </a:pPr>
            <a:r>
              <a:rPr lang="en-US" sz="2400" dirty="0"/>
              <a:t>Floating point arithmetic in DDA algorithm is still time consuming. The algorithm is orientation dependent. Hence end point accuracy is poor. </a:t>
            </a:r>
          </a:p>
          <a:p>
            <a:pPr marL="285750" indent="-285750" algn="just">
              <a:buFont typeface="Arial" pitchFamily="34" charset="0"/>
              <a:buChar char="•"/>
            </a:pPr>
            <a:endParaRPr lang="en-US" sz="2400" dirty="0"/>
          </a:p>
          <a:p>
            <a:pPr marL="285750" indent="-285750" algn="just">
              <a:buFont typeface="Arial" pitchFamily="34" charset="0"/>
              <a:buChar char="•"/>
            </a:pPr>
            <a:r>
              <a:rPr lang="en-US" sz="2400" dirty="0"/>
              <a:t>Although DDA is fast, the accumulation of round-off error in successive additions of floating point increment, however can cause the calculation pixel position to drift away from the true line path for long line segment</a:t>
            </a:r>
            <a:endParaRPr lang="en-US" dirty="0"/>
          </a:p>
          <a:p>
            <a:endParaRPr lang="en-US" dirty="0"/>
          </a:p>
        </p:txBody>
      </p:sp>
    </p:spTree>
    <p:extLst>
      <p:ext uri="{BB962C8B-B14F-4D97-AF65-F5344CB8AC3E}">
        <p14:creationId xmlns:p14="http://schemas.microsoft.com/office/powerpoint/2010/main" val="7014785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Introduction</a:t>
            </a:r>
            <a:endParaRPr lang="x-none" dirty="0"/>
          </a:p>
        </p:txBody>
      </p:sp>
      <p:sp>
        <p:nvSpPr>
          <p:cNvPr id="3" name="Rectangle 2"/>
          <p:cNvSpPr/>
          <p:nvPr/>
        </p:nvSpPr>
        <p:spPr>
          <a:xfrm>
            <a:off x="265471" y="2448232"/>
            <a:ext cx="8347587" cy="2523768"/>
          </a:xfrm>
          <a:prstGeom prst="rect">
            <a:avLst/>
          </a:prstGeom>
        </p:spPr>
        <p:txBody>
          <a:bodyPr wrap="square">
            <a:spAutoFit/>
          </a:bodyPr>
          <a:lstStyle/>
          <a:p>
            <a:pPr algn="just"/>
            <a:r>
              <a:rPr lang="en-US" sz="2800" dirty="0"/>
              <a:t>The Midpoint line algorithm is an incremental line plotting algorithm i.e. at each step we make incremental calculations based on preceding step to find next y value, in order to form a close approximation to a straight line between two points.</a:t>
            </a:r>
          </a:p>
          <a:p>
            <a:endParaRPr lang="en-US" dirty="0"/>
          </a:p>
        </p:txBody>
      </p:sp>
    </p:spTree>
    <p:extLst>
      <p:ext uri="{BB962C8B-B14F-4D97-AF65-F5344CB8AC3E}">
        <p14:creationId xmlns:p14="http://schemas.microsoft.com/office/powerpoint/2010/main" val="3147995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Concept</a:t>
            </a:r>
            <a:endParaRPr lang="x-none" dirty="0"/>
          </a:p>
        </p:txBody>
      </p:sp>
      <p:pic>
        <p:nvPicPr>
          <p:cNvPr id="6" name="Content Placeholder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2138522"/>
            <a:ext cx="6401193" cy="3812458"/>
          </a:xfrm>
          <a:prstGeom prst="rect">
            <a:avLst/>
          </a:prstGeom>
        </p:spPr>
      </p:pic>
    </p:spTree>
    <p:extLst>
      <p:ext uri="{BB962C8B-B14F-4D97-AF65-F5344CB8AC3E}">
        <p14:creationId xmlns:p14="http://schemas.microsoft.com/office/powerpoint/2010/main" val="2753611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Concept</a:t>
            </a:r>
            <a:endParaRPr lang="x-none" dirty="0"/>
          </a:p>
        </p:txBody>
      </p:sp>
      <p:sp>
        <p:nvSpPr>
          <p:cNvPr id="3" name="Rectangle 2"/>
          <p:cNvSpPr/>
          <p:nvPr/>
        </p:nvSpPr>
        <p:spPr>
          <a:xfrm>
            <a:off x="1120877" y="2690336"/>
            <a:ext cx="6518787" cy="3416320"/>
          </a:xfrm>
          <a:prstGeom prst="rect">
            <a:avLst/>
          </a:prstGeom>
        </p:spPr>
        <p:txBody>
          <a:bodyPr wrap="square">
            <a:spAutoFit/>
          </a:bodyPr>
          <a:lstStyle/>
          <a:p>
            <a:pPr marL="118872" indent="0">
              <a:buNone/>
            </a:pPr>
            <a:r>
              <a:rPr lang="en-US" sz="3600" b="1" dirty="0"/>
              <a:t>Equation of Line:</a:t>
            </a:r>
          </a:p>
          <a:p>
            <a:pPr marL="118872" indent="0">
              <a:buNone/>
            </a:pPr>
            <a:r>
              <a:rPr lang="en-US" sz="3600" dirty="0"/>
              <a:t>y=</a:t>
            </a:r>
            <a:r>
              <a:rPr lang="en-US" sz="3600" dirty="0" err="1"/>
              <a:t>mx+B</a:t>
            </a:r>
            <a:endParaRPr lang="en-US" sz="3600" dirty="0"/>
          </a:p>
          <a:p>
            <a:pPr marL="118872" indent="0">
              <a:buNone/>
            </a:pPr>
            <a:endParaRPr lang="en-US" dirty="0"/>
          </a:p>
          <a:p>
            <a:pPr marL="118872" indent="0">
              <a:buNone/>
            </a:pPr>
            <a:endParaRPr lang="en-US" dirty="0"/>
          </a:p>
          <a:p>
            <a:pPr marL="118872" indent="0">
              <a:buNone/>
            </a:pPr>
            <a:r>
              <a:rPr lang="en-US" sz="3600" b="1" dirty="0"/>
              <a:t>Function of Line:</a:t>
            </a:r>
          </a:p>
          <a:p>
            <a:pPr marL="118872" indent="0">
              <a:buNone/>
            </a:pPr>
            <a:r>
              <a:rPr lang="en-US" sz="3600" dirty="0"/>
              <a:t>F(</a:t>
            </a:r>
            <a:r>
              <a:rPr lang="en-US" sz="3600" dirty="0" err="1"/>
              <a:t>x,y</a:t>
            </a:r>
            <a:r>
              <a:rPr lang="en-US" sz="3600" dirty="0"/>
              <a:t>)= </a:t>
            </a:r>
            <a:r>
              <a:rPr lang="en-US" sz="3600" dirty="0" err="1"/>
              <a:t>ax+by+c</a:t>
            </a:r>
            <a:endParaRPr lang="en-US" sz="3600" dirty="0"/>
          </a:p>
          <a:p>
            <a:pPr marL="118872" indent="0">
              <a:buNone/>
            </a:pPr>
            <a:endParaRPr lang="en-US" sz="3600" dirty="0"/>
          </a:p>
        </p:txBody>
      </p:sp>
    </p:spTree>
    <p:extLst>
      <p:ext uri="{BB962C8B-B14F-4D97-AF65-F5344CB8AC3E}">
        <p14:creationId xmlns:p14="http://schemas.microsoft.com/office/powerpoint/2010/main" val="1998079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Derivation</a:t>
            </a:r>
            <a:endParaRPr lang="x-none" dirty="0"/>
          </a:p>
        </p:txBody>
      </p:sp>
      <p:pic>
        <p:nvPicPr>
          <p:cNvPr id="6" name="Content Placeholder 5"/>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2389" y="2256502"/>
            <a:ext cx="7859222" cy="3908049"/>
          </a:xfrm>
          <a:prstGeom prst="rect">
            <a:avLst/>
          </a:prstGeom>
        </p:spPr>
      </p:pic>
    </p:spTree>
    <p:extLst>
      <p:ext uri="{BB962C8B-B14F-4D97-AF65-F5344CB8AC3E}">
        <p14:creationId xmlns:p14="http://schemas.microsoft.com/office/powerpoint/2010/main" val="5740907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Derivation</a:t>
            </a:r>
            <a:endParaRPr lang="x-none" dirty="0"/>
          </a:p>
        </p:txBody>
      </p:sp>
      <p:pic>
        <p:nvPicPr>
          <p:cNvPr id="7" name="Content Placeholder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2271251"/>
            <a:ext cx="6477000" cy="3746091"/>
          </a:xfrm>
          <a:prstGeom prst="rect">
            <a:avLst/>
          </a:prstGeom>
        </p:spPr>
      </p:pic>
    </p:spTree>
    <p:extLst>
      <p:ext uri="{BB962C8B-B14F-4D97-AF65-F5344CB8AC3E}">
        <p14:creationId xmlns:p14="http://schemas.microsoft.com/office/powerpoint/2010/main" val="42871224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Derivation</a:t>
            </a:r>
            <a:endParaRPr lang="x-none"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948" y="2126220"/>
            <a:ext cx="8020595" cy="4114800"/>
          </a:xfrm>
          <a:prstGeom prst="rect">
            <a:avLst/>
          </a:prstGeom>
        </p:spPr>
      </p:pic>
    </p:spTree>
    <p:extLst>
      <p:ext uri="{BB962C8B-B14F-4D97-AF65-F5344CB8AC3E}">
        <p14:creationId xmlns:p14="http://schemas.microsoft.com/office/powerpoint/2010/main" val="40633035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Derivation (Find </a:t>
            </a:r>
            <a:r>
              <a:rPr lang="en-US" dirty="0" err="1"/>
              <a:t>Dstart</a:t>
            </a:r>
            <a:r>
              <a:rPr lang="en-US" dirty="0"/>
              <a:t>)</a:t>
            </a:r>
            <a:endParaRPr lang="x-none" dirty="0"/>
          </a:p>
        </p:txBody>
      </p:sp>
      <p:pic>
        <p:nvPicPr>
          <p:cNvPr id="7" name="Content Placeholder 5"/>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57200" y="2108006"/>
            <a:ext cx="8229600" cy="3959613"/>
          </a:xfrm>
          <a:prstGeom prst="rect">
            <a:avLst/>
          </a:prstGeom>
        </p:spPr>
      </p:pic>
    </p:spTree>
    <p:extLst>
      <p:ext uri="{BB962C8B-B14F-4D97-AF65-F5344CB8AC3E}">
        <p14:creationId xmlns:p14="http://schemas.microsoft.com/office/powerpoint/2010/main" val="35806147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Derivation (Find </a:t>
            </a:r>
            <a:r>
              <a:rPr lang="en-US" dirty="0" err="1"/>
              <a:t>Dstart</a:t>
            </a:r>
            <a:r>
              <a:rPr lang="en-US" dirty="0"/>
              <a:t>)</a:t>
            </a:r>
            <a:endParaRPr lang="x-none"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2253994"/>
            <a:ext cx="6705599" cy="3667637"/>
          </a:xfrm>
          <a:prstGeom prst="rect">
            <a:avLst/>
          </a:prstGeom>
        </p:spPr>
      </p:pic>
    </p:spTree>
    <p:extLst>
      <p:ext uri="{BB962C8B-B14F-4D97-AF65-F5344CB8AC3E}">
        <p14:creationId xmlns:p14="http://schemas.microsoft.com/office/powerpoint/2010/main" val="4024577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Derivation (How to Choose E / NE)</a:t>
            </a:r>
            <a:endParaRPr lang="x-none" dirty="0"/>
          </a:p>
        </p:txBody>
      </p:sp>
      <p:pic>
        <p:nvPicPr>
          <p:cNvPr id="7"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1" y="2657149"/>
            <a:ext cx="5486400" cy="3359846"/>
          </a:xfrm>
          <a:prstGeom prst="rect">
            <a:avLst/>
          </a:prstGeom>
        </p:spPr>
      </p:pic>
    </p:spTree>
    <p:extLst>
      <p:ext uri="{BB962C8B-B14F-4D97-AF65-F5344CB8AC3E}">
        <p14:creationId xmlns:p14="http://schemas.microsoft.com/office/powerpoint/2010/main" val="3391813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Derivation (If E is chosen)</a:t>
            </a:r>
            <a:endParaRPr lang="x-none"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3389" y="2496914"/>
            <a:ext cx="7497221" cy="3751485"/>
          </a:xfrm>
          <a:prstGeom prst="rect">
            <a:avLst/>
          </a:prstGeom>
        </p:spPr>
      </p:pic>
    </p:spTree>
    <p:extLst>
      <p:ext uri="{BB962C8B-B14F-4D97-AF65-F5344CB8AC3E}">
        <p14:creationId xmlns:p14="http://schemas.microsoft.com/office/powerpoint/2010/main" val="33385236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Derivation (If E is chosen)</a:t>
            </a:r>
            <a:endParaRPr lang="x-none" dirty="0"/>
          </a:p>
        </p:txBody>
      </p:sp>
      <p:pic>
        <p:nvPicPr>
          <p:cNvPr id="7"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178" y="2197510"/>
            <a:ext cx="7649643" cy="3989439"/>
          </a:xfrm>
          <a:prstGeom prst="rect">
            <a:avLst/>
          </a:prstGeom>
        </p:spPr>
      </p:pic>
    </p:spTree>
    <p:extLst>
      <p:ext uri="{BB962C8B-B14F-4D97-AF65-F5344CB8AC3E}">
        <p14:creationId xmlns:p14="http://schemas.microsoft.com/office/powerpoint/2010/main" val="26802069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Derivation (If  NE is chosen)</a:t>
            </a:r>
            <a:endParaRPr lang="x-none" dirty="0"/>
          </a:p>
        </p:txBody>
      </p:sp>
      <p:pic>
        <p:nvPicPr>
          <p:cNvPr id="8"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2126220"/>
            <a:ext cx="6753657" cy="3892788"/>
          </a:xfrm>
          <a:prstGeom prst="rect">
            <a:avLst/>
          </a:prstGeom>
        </p:spPr>
      </p:pic>
    </p:spTree>
    <p:extLst>
      <p:ext uri="{BB962C8B-B14F-4D97-AF65-F5344CB8AC3E}">
        <p14:creationId xmlns:p14="http://schemas.microsoft.com/office/powerpoint/2010/main" val="28309485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Derivation (Adjustment with value 2)</a:t>
            </a:r>
            <a:endParaRPr lang="x-none"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2214708"/>
            <a:ext cx="8229600" cy="2971800"/>
          </a:xfrm>
          <a:prstGeom prst="rect">
            <a:avLst/>
          </a:prstGeom>
        </p:spPr>
      </p:pic>
    </p:spTree>
    <p:extLst>
      <p:ext uri="{BB962C8B-B14F-4D97-AF65-F5344CB8AC3E}">
        <p14:creationId xmlns:p14="http://schemas.microsoft.com/office/powerpoint/2010/main" val="6040956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Derivation (Summary)</a:t>
            </a:r>
            <a:endParaRPr lang="x-none" dirty="0"/>
          </a:p>
        </p:txBody>
      </p:sp>
      <p:pic>
        <p:nvPicPr>
          <p:cNvPr id="7"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2362200"/>
            <a:ext cx="8229600" cy="3352800"/>
          </a:xfrm>
          <a:prstGeom prst="rect">
            <a:avLst/>
          </a:prstGeom>
        </p:spPr>
      </p:pic>
    </p:spTree>
    <p:extLst>
      <p:ext uri="{BB962C8B-B14F-4D97-AF65-F5344CB8AC3E}">
        <p14:creationId xmlns:p14="http://schemas.microsoft.com/office/powerpoint/2010/main" val="1502673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Advantages</a:t>
            </a:r>
            <a:endParaRPr lang="x-none" dirty="0"/>
          </a:p>
        </p:txBody>
      </p:sp>
      <p:sp>
        <p:nvSpPr>
          <p:cNvPr id="3" name="Rectangle 2"/>
          <p:cNvSpPr/>
          <p:nvPr/>
        </p:nvSpPr>
        <p:spPr>
          <a:xfrm>
            <a:off x="476205" y="2347902"/>
            <a:ext cx="6897989" cy="2769989"/>
          </a:xfrm>
          <a:prstGeom prst="rect">
            <a:avLst/>
          </a:prstGeom>
        </p:spPr>
        <p:txBody>
          <a:bodyPr wrap="square">
            <a:spAutoFit/>
          </a:bodyPr>
          <a:lstStyle/>
          <a:p>
            <a:pPr marL="571500" indent="-571500">
              <a:buFont typeface="Arial" pitchFamily="34" charset="0"/>
              <a:buChar char="•"/>
            </a:pPr>
            <a:r>
              <a:rPr lang="en-US" sz="3000" dirty="0"/>
              <a:t>Incremental Method</a:t>
            </a:r>
          </a:p>
          <a:p>
            <a:pPr marL="571500" indent="-571500">
              <a:buFont typeface="Arial" pitchFamily="34" charset="0"/>
              <a:buChar char="•"/>
            </a:pPr>
            <a:r>
              <a:rPr lang="en-US" sz="3000" dirty="0"/>
              <a:t>No Round Function</a:t>
            </a:r>
          </a:p>
          <a:p>
            <a:pPr marL="571500" indent="-571500">
              <a:buFont typeface="Arial" pitchFamily="34" charset="0"/>
              <a:buChar char="•"/>
            </a:pPr>
            <a:r>
              <a:rPr lang="en-US" sz="3000" dirty="0"/>
              <a:t>More accurate position</a:t>
            </a:r>
          </a:p>
          <a:p>
            <a:pPr marL="571500" indent="-571500">
              <a:buFont typeface="Arial" pitchFamily="34" charset="0"/>
              <a:buChar char="•"/>
            </a:pPr>
            <a:r>
              <a:rPr lang="en-US" sz="3000" dirty="0"/>
              <a:t>Only Arithmetic Function</a:t>
            </a:r>
          </a:p>
          <a:p>
            <a:endParaRPr lang="en-US" dirty="0"/>
          </a:p>
          <a:p>
            <a:endParaRPr lang="en-US" dirty="0"/>
          </a:p>
          <a:p>
            <a:endParaRPr lang="en-US" dirty="0"/>
          </a:p>
        </p:txBody>
      </p:sp>
    </p:spTree>
    <p:extLst>
      <p:ext uri="{BB962C8B-B14F-4D97-AF65-F5344CB8AC3E}">
        <p14:creationId xmlns:p14="http://schemas.microsoft.com/office/powerpoint/2010/main" val="105984711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Mathematics : Question</a:t>
            </a:r>
            <a:endParaRPr lang="x-none"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2521974"/>
            <a:ext cx="5638799" cy="3685447"/>
          </a:xfrm>
          <a:prstGeom prst="rect">
            <a:avLst/>
          </a:prstGeom>
        </p:spPr>
      </p:pic>
    </p:spTree>
    <p:extLst>
      <p:ext uri="{BB962C8B-B14F-4D97-AF65-F5344CB8AC3E}">
        <p14:creationId xmlns:p14="http://schemas.microsoft.com/office/powerpoint/2010/main" val="41308013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Mathematics: Solve</a:t>
            </a:r>
            <a:endParaRPr lang="x-none" dirty="0"/>
          </a:p>
        </p:txBody>
      </p:sp>
      <p:pic>
        <p:nvPicPr>
          <p:cNvPr id="8" name="Content Placeholder 5"/>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57200" y="2355067"/>
            <a:ext cx="8229600" cy="3465491"/>
          </a:xfrm>
          <a:prstGeom prst="rect">
            <a:avLst/>
          </a:prstGeom>
        </p:spPr>
      </p:pic>
    </p:spTree>
    <p:extLst>
      <p:ext uri="{BB962C8B-B14F-4D97-AF65-F5344CB8AC3E}">
        <p14:creationId xmlns:p14="http://schemas.microsoft.com/office/powerpoint/2010/main" val="30339929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Mathematics</a:t>
            </a:r>
            <a:endParaRPr lang="x-none" dirty="0"/>
          </a:p>
        </p:txBody>
      </p:sp>
      <p:pic>
        <p:nvPicPr>
          <p:cNvPr id="6" name="Content Placeholder 5"/>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75480" y="2344994"/>
            <a:ext cx="7193040" cy="3480620"/>
          </a:xfrm>
          <a:prstGeom prst="rect">
            <a:avLst/>
          </a:prstGeom>
        </p:spPr>
      </p:pic>
    </p:spTree>
    <p:extLst>
      <p:ext uri="{BB962C8B-B14F-4D97-AF65-F5344CB8AC3E}">
        <p14:creationId xmlns:p14="http://schemas.microsoft.com/office/powerpoint/2010/main" val="36787684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Mathematics</a:t>
            </a:r>
            <a:endParaRPr lang="x-none" dirty="0"/>
          </a:p>
        </p:txBody>
      </p:sp>
      <p:pic>
        <p:nvPicPr>
          <p:cNvPr id="7" name="Content Placeholder 5"/>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57200" y="2355067"/>
            <a:ext cx="8229600" cy="3765514"/>
          </a:xfrm>
          <a:prstGeom prst="rect">
            <a:avLst/>
          </a:prstGeom>
        </p:spPr>
      </p:pic>
    </p:spTree>
    <p:extLst>
      <p:ext uri="{BB962C8B-B14F-4D97-AF65-F5344CB8AC3E}">
        <p14:creationId xmlns:p14="http://schemas.microsoft.com/office/powerpoint/2010/main" val="11037488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Mathematics</a:t>
            </a:r>
            <a:endParaRPr lang="x-none"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5627" y="2580968"/>
            <a:ext cx="7094690" cy="3215147"/>
          </a:xfrm>
          <a:prstGeom prst="rect">
            <a:avLst/>
          </a:prstGeom>
        </p:spPr>
      </p:pic>
    </p:spTree>
    <p:extLst>
      <p:ext uri="{BB962C8B-B14F-4D97-AF65-F5344CB8AC3E}">
        <p14:creationId xmlns:p14="http://schemas.microsoft.com/office/powerpoint/2010/main" val="825170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400" dirty="0" err="1"/>
              <a:t>Bresenham's</a:t>
            </a:r>
            <a:r>
              <a:rPr lang="en-US" sz="3400" dirty="0"/>
              <a:t> Mid Point Line Algorithm</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Mathematics</a:t>
            </a:r>
            <a:endParaRPr lang="x-none" dirty="0"/>
          </a:p>
        </p:txBody>
      </p:sp>
      <p:pic>
        <p:nvPicPr>
          <p:cNvPr id="6"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5627" y="2580968"/>
            <a:ext cx="7094690" cy="3215147"/>
          </a:xfrm>
          <a:prstGeom prst="rect">
            <a:avLst/>
          </a:prstGeom>
        </p:spPr>
      </p:pic>
    </p:spTree>
    <p:extLst>
      <p:ext uri="{BB962C8B-B14F-4D97-AF65-F5344CB8AC3E}">
        <p14:creationId xmlns:p14="http://schemas.microsoft.com/office/powerpoint/2010/main" val="201420294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Books</a:t>
            </a:r>
          </a:p>
        </p:txBody>
      </p:sp>
      <p:sp>
        <p:nvSpPr>
          <p:cNvPr id="5" name="TextBox 4">
            <a:extLst>
              <a:ext uri="{FF2B5EF4-FFF2-40B4-BE49-F238E27FC236}">
                <a16:creationId xmlns:a16="http://schemas.microsoft.com/office/drawing/2014/main" id="{F2944A7F-5AE5-EC49-82AF-722C8C8F62C6}"/>
              </a:ext>
            </a:extLst>
          </p:cNvPr>
          <p:cNvSpPr txBox="1"/>
          <p:nvPr/>
        </p:nvSpPr>
        <p:spPr>
          <a:xfrm>
            <a:off x="335494" y="1521497"/>
            <a:ext cx="8347587" cy="3385542"/>
          </a:xfrm>
          <a:prstGeom prst="rect">
            <a:avLst/>
          </a:prstGeom>
          <a:noFill/>
        </p:spPr>
        <p:txBody>
          <a:bodyPr wrap="square" rtlCol="0">
            <a:spAutoFit/>
          </a:bodyPr>
          <a:lstStyle/>
          <a:p>
            <a:pPr marL="457200" indent="-457200">
              <a:buFont typeface="Arial" pitchFamily="34" charset="0"/>
              <a:buChar char="•"/>
            </a:pPr>
            <a:r>
              <a:rPr lang="en-US" sz="2800" dirty="0"/>
              <a:t>Foley, van Dam, </a:t>
            </a:r>
            <a:r>
              <a:rPr lang="en-US" sz="2800" dirty="0" err="1"/>
              <a:t>Feiner</a:t>
            </a:r>
            <a:r>
              <a:rPr lang="en-US" sz="2800" dirty="0"/>
              <a:t>, Hughes, Computer Graphics: principles and practice, Addison Wesley, Second Edition.</a:t>
            </a:r>
          </a:p>
          <a:p>
            <a:pPr marL="457200" indent="-457200">
              <a:buFont typeface="Arial" pitchFamily="34" charset="0"/>
              <a:buChar char="•"/>
            </a:pPr>
            <a:r>
              <a:rPr lang="en-US" sz="2800" dirty="0" err="1"/>
              <a:t>Schaum's</a:t>
            </a:r>
            <a:r>
              <a:rPr lang="en-US" sz="2800" dirty="0"/>
              <a:t> Outline of Theory &amp; Problems of Computer Graphics.</a:t>
            </a:r>
          </a:p>
          <a:p>
            <a:pPr marL="457200" indent="-457200">
              <a:buFont typeface="Arial" pitchFamily="34" charset="0"/>
              <a:buChar char="•"/>
            </a:pPr>
            <a:r>
              <a:rPr lang="en-US" sz="2800" dirty="0"/>
              <a:t>Peter Shirley Steve </a:t>
            </a:r>
            <a:r>
              <a:rPr lang="en-US" sz="2800" dirty="0" err="1"/>
              <a:t>Marschner</a:t>
            </a:r>
            <a:r>
              <a:rPr lang="en-US" sz="2800" dirty="0"/>
              <a:t> , “Fundamental of computer graphics”, Third Edition.</a:t>
            </a:r>
            <a:endParaRPr lang="en-US" dirty="0"/>
          </a:p>
          <a:p>
            <a:endParaRPr lang="en-US" dirty="0"/>
          </a:p>
        </p:txBody>
      </p:sp>
    </p:spTree>
    <p:extLst>
      <p:ext uri="{BB962C8B-B14F-4D97-AF65-F5344CB8AC3E}">
        <p14:creationId xmlns:p14="http://schemas.microsoft.com/office/powerpoint/2010/main" val="19233823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335494" y="1332182"/>
            <a:ext cx="8101449" cy="5355312"/>
          </a:xfrm>
          <a:prstGeom prst="rect">
            <a:avLst/>
          </a:prstGeom>
          <a:noFill/>
        </p:spPr>
        <p:txBody>
          <a:bodyPr wrap="none" rtlCol="0">
            <a:spAutoFit/>
          </a:bodyPr>
          <a:lstStyle/>
          <a:p>
            <a:pPr lvl="0" algn="just"/>
            <a:r>
              <a:rPr lang="en-US" dirty="0"/>
              <a:t>Chapter 3:  Basic Raster Graphics Algorithm for Drawing 2D Primitives.</a:t>
            </a:r>
          </a:p>
          <a:p>
            <a:pPr lvl="0" algn="just"/>
            <a:r>
              <a:rPr lang="en-US" dirty="0"/>
              <a:t> Foley, van Dam, </a:t>
            </a:r>
            <a:r>
              <a:rPr lang="en-US" dirty="0" err="1"/>
              <a:t>Feiner</a:t>
            </a:r>
            <a:r>
              <a:rPr lang="en-US" dirty="0"/>
              <a:t>, Hughes, Computer Graphics: principles and practice, 2</a:t>
            </a:r>
            <a:r>
              <a:rPr lang="en-US" baseline="30000" dirty="0"/>
              <a:t>nd</a:t>
            </a:r>
            <a:r>
              <a:rPr lang="en-US" dirty="0"/>
              <a:t> ed.</a:t>
            </a:r>
          </a:p>
          <a:p>
            <a:pPr lvl="0"/>
            <a:endParaRPr lang="en-US" dirty="0"/>
          </a:p>
          <a:p>
            <a:pPr lvl="0"/>
            <a:r>
              <a:rPr lang="en-US" dirty="0">
                <a:hlinkClick r:id="rId2"/>
              </a:rPr>
              <a:t>https://www.slideshare.net/mohammedarif89/intro-to-scan-conversion</a:t>
            </a:r>
            <a:endParaRPr lang="en-US" dirty="0"/>
          </a:p>
          <a:p>
            <a:pPr lvl="0"/>
            <a:endParaRPr lang="en-US" dirty="0"/>
          </a:p>
          <a:p>
            <a:pPr lvl="0"/>
            <a:r>
              <a:rPr lang="en-US" dirty="0">
                <a:hlinkClick r:id="rId3"/>
              </a:rPr>
              <a:t>https://en.wikipedia.org/wiki/Rasterisation</a:t>
            </a:r>
            <a:endParaRPr lang="en-US" dirty="0"/>
          </a:p>
          <a:p>
            <a:pPr lvl="0"/>
            <a:endParaRPr lang="en-US" dirty="0"/>
          </a:p>
          <a:p>
            <a:pPr lvl="0"/>
            <a:r>
              <a:rPr lang="en-US" dirty="0">
                <a:hlinkClick r:id="rId4"/>
              </a:rPr>
              <a:t>http://resources.mpi-inf.mpg.de/departments/d4/teaching/ws200708/cg/slides/</a:t>
            </a:r>
          </a:p>
          <a:p>
            <a:pPr lvl="0"/>
            <a:r>
              <a:rPr lang="en-US" dirty="0">
                <a:hlinkClick r:id="rId4"/>
              </a:rPr>
              <a:t>CG16-RasterizationClipping.pdf</a:t>
            </a:r>
            <a:endParaRPr lang="en-US" dirty="0"/>
          </a:p>
          <a:p>
            <a:pPr lvl="0"/>
            <a:endParaRPr lang="en-US" dirty="0"/>
          </a:p>
          <a:p>
            <a:pPr lvl="0"/>
            <a:r>
              <a:rPr lang="en-US" dirty="0">
                <a:hlinkClick r:id="rId5"/>
              </a:rPr>
              <a:t>https://www.tutorialspoint.com/computer_graphics/line_generation_algorithm.htm</a:t>
            </a:r>
            <a:endParaRPr lang="en-US" dirty="0"/>
          </a:p>
          <a:p>
            <a:pPr lvl="0"/>
            <a:endParaRPr lang="en-US" dirty="0"/>
          </a:p>
          <a:p>
            <a:pPr lvl="0"/>
            <a:r>
              <a:rPr lang="en-US" dirty="0">
                <a:hlinkClick r:id="rId6"/>
              </a:rPr>
              <a:t>https://en.wikipedia.org/wiki/Digital_differential_analyzer_(graphics_algorithm)</a:t>
            </a:r>
            <a:endParaRPr lang="en-US" dirty="0"/>
          </a:p>
          <a:p>
            <a:pPr lvl="0"/>
            <a:endParaRPr lang="en-US" dirty="0"/>
          </a:p>
          <a:p>
            <a:pPr lvl="0"/>
            <a:r>
              <a:rPr lang="en-US" dirty="0">
                <a:hlinkClick r:id="rId7"/>
              </a:rPr>
              <a:t>https://www.slideshare.net/ManikanthKummarikunt/dda-algorithm-97720869</a:t>
            </a:r>
            <a:endParaRPr lang="en-US" dirty="0"/>
          </a:p>
          <a:p>
            <a:pPr lvl="0"/>
            <a:endParaRPr lang="en-US" dirty="0"/>
          </a:p>
          <a:p>
            <a:pPr lvl="0"/>
            <a:r>
              <a:rPr lang="en-US" dirty="0">
                <a:hlinkClick r:id="rId8"/>
              </a:rPr>
              <a:t>https://www.slideshare.net/drishtibhalla/mid-point-line-algorithm</a:t>
            </a:r>
            <a:endParaRPr lang="en-US" dirty="0"/>
          </a:p>
          <a:p>
            <a:pPr lvl="0"/>
            <a:endParaRPr lang="en-US" dirty="0"/>
          </a:p>
          <a:p>
            <a:pPr lvl="0"/>
            <a:r>
              <a:rPr lang="en-US" dirty="0">
                <a:hlinkClick r:id="rId9"/>
              </a:rPr>
              <a:t>https://en.wikipedia.org/wiki/Bresenham%27s_line_algorithm</a:t>
            </a:r>
            <a:endParaRPr lang="x-none" dirty="0"/>
          </a:p>
        </p:txBody>
      </p:sp>
    </p:spTree>
    <p:extLst>
      <p:ext uri="{BB962C8B-B14F-4D97-AF65-F5344CB8AC3E}">
        <p14:creationId xmlns:p14="http://schemas.microsoft.com/office/powerpoint/2010/main" val="32249698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B3EA7-842A-4140-8B5A-525E5A9DA664}"/>
              </a:ext>
            </a:extLst>
          </p:cNvPr>
          <p:cNvSpPr>
            <a:spLocks noGrp="1"/>
          </p:cNvSpPr>
          <p:nvPr>
            <p:ph type="ctrTitle"/>
          </p:nvPr>
        </p:nvSpPr>
        <p:spPr>
          <a:xfrm>
            <a:off x="421341" y="449005"/>
            <a:ext cx="8246454" cy="1088136"/>
          </a:xfrm>
        </p:spPr>
        <p:txBody>
          <a:bodyPr>
            <a:normAutofit/>
          </a:bodyPr>
          <a:lstStyle/>
          <a:p>
            <a:r>
              <a:rPr lang="en-US" sz="3200" dirty="0" err="1"/>
              <a:t>Bresenham's</a:t>
            </a:r>
            <a:r>
              <a:rPr lang="en-US" sz="3200" dirty="0"/>
              <a:t> Mid Point Line Algorithm</a:t>
            </a:r>
          </a:p>
        </p:txBody>
      </p:sp>
      <p:sp>
        <p:nvSpPr>
          <p:cNvPr id="3" name="Subtitle 2">
            <a:extLst>
              <a:ext uri="{FF2B5EF4-FFF2-40B4-BE49-F238E27FC236}">
                <a16:creationId xmlns:a16="http://schemas.microsoft.com/office/drawing/2014/main" id="{21BBD8E2-CD93-4095-881B-17F0302C7797}"/>
              </a:ext>
            </a:extLst>
          </p:cNvPr>
          <p:cNvSpPr>
            <a:spLocks noGrp="1"/>
          </p:cNvSpPr>
          <p:nvPr>
            <p:ph type="subTitle" idx="1"/>
          </p:nvPr>
        </p:nvSpPr>
        <p:spPr/>
        <p:txBody>
          <a:bodyPr/>
          <a:lstStyle/>
          <a:p>
            <a:r>
              <a:rPr lang="en-US" dirty="0"/>
              <a:t>Slop(m) &lt; 1</a:t>
            </a:r>
          </a:p>
        </p:txBody>
      </p:sp>
      <p:sp>
        <p:nvSpPr>
          <p:cNvPr id="7" name="Content Placeholder 2">
            <a:extLst>
              <a:ext uri="{FF2B5EF4-FFF2-40B4-BE49-F238E27FC236}">
                <a16:creationId xmlns:a16="http://schemas.microsoft.com/office/drawing/2014/main" id="{C366F44A-D79A-47D2-AC5F-D6756C769366}"/>
              </a:ext>
            </a:extLst>
          </p:cNvPr>
          <p:cNvSpPr txBox="1">
            <a:spLocks/>
          </p:cNvSpPr>
          <p:nvPr/>
        </p:nvSpPr>
        <p:spPr>
          <a:xfrm>
            <a:off x="814887" y="2044502"/>
            <a:ext cx="7076747" cy="4237881"/>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dirty="0" err="1">
                <a:solidFill>
                  <a:schemeClr val="tx1"/>
                </a:solidFill>
              </a:rPr>
              <a:t>d</a:t>
            </a:r>
            <a:r>
              <a:rPr lang="en-US" sz="2400" baseline="-25000" dirty="0" err="1">
                <a:solidFill>
                  <a:schemeClr val="tx1"/>
                </a:solidFill>
              </a:rPr>
              <a:t>start</a:t>
            </a:r>
            <a:r>
              <a:rPr lang="en-US" sz="2400" dirty="0">
                <a:solidFill>
                  <a:schemeClr val="tx1"/>
                </a:solidFill>
              </a:rPr>
              <a:t> = 2d</a:t>
            </a:r>
            <a:r>
              <a:rPr lang="en-US" sz="2400" baseline="-25000" dirty="0">
                <a:solidFill>
                  <a:schemeClr val="tx1"/>
                </a:solidFill>
              </a:rPr>
              <a:t>y</a:t>
            </a:r>
            <a:r>
              <a:rPr lang="en-US" sz="2400" dirty="0">
                <a:solidFill>
                  <a:schemeClr val="tx1"/>
                </a:solidFill>
              </a:rPr>
              <a:t>-d</a:t>
            </a:r>
            <a:r>
              <a:rPr lang="en-US" sz="2400" baseline="-25000" dirty="0">
                <a:solidFill>
                  <a:schemeClr val="tx1"/>
                </a:solidFill>
              </a:rPr>
              <a:t>x</a:t>
            </a:r>
          </a:p>
          <a:p>
            <a:endParaRPr lang="en-US" sz="2400" dirty="0">
              <a:solidFill>
                <a:schemeClr val="tx1"/>
              </a:solidFill>
            </a:endParaRPr>
          </a:p>
          <a:p>
            <a:r>
              <a:rPr lang="en-US" sz="2400" dirty="0">
                <a:solidFill>
                  <a:schemeClr val="tx1"/>
                </a:solidFill>
              </a:rPr>
              <a:t>when d&gt;0 ----- select NE</a:t>
            </a:r>
          </a:p>
          <a:p>
            <a:r>
              <a:rPr lang="en-US" sz="2400" dirty="0">
                <a:solidFill>
                  <a:schemeClr val="tx1"/>
                </a:solidFill>
              </a:rPr>
              <a:t>	</a:t>
            </a:r>
            <a:r>
              <a:rPr lang="en-US" sz="2400" dirty="0" err="1">
                <a:solidFill>
                  <a:schemeClr val="tx1"/>
                </a:solidFill>
              </a:rPr>
              <a:t>d</a:t>
            </a:r>
            <a:r>
              <a:rPr lang="en-US" sz="2400" baseline="-25000" dirty="0" err="1">
                <a:solidFill>
                  <a:schemeClr val="tx1"/>
                </a:solidFill>
              </a:rPr>
              <a:t>new</a:t>
            </a:r>
            <a:r>
              <a:rPr lang="en-US" sz="2400" dirty="0">
                <a:solidFill>
                  <a:schemeClr val="tx1"/>
                </a:solidFill>
              </a:rPr>
              <a:t> = </a:t>
            </a:r>
            <a:r>
              <a:rPr lang="en-US" sz="2400" dirty="0" err="1">
                <a:solidFill>
                  <a:schemeClr val="tx1"/>
                </a:solidFill>
              </a:rPr>
              <a:t>d</a:t>
            </a:r>
            <a:r>
              <a:rPr lang="en-US" sz="2400" baseline="-25000" dirty="0" err="1">
                <a:solidFill>
                  <a:schemeClr val="tx1"/>
                </a:solidFill>
              </a:rPr>
              <a:t>old</a:t>
            </a:r>
            <a:r>
              <a:rPr lang="en-US" sz="2400" dirty="0">
                <a:solidFill>
                  <a:schemeClr val="tx1"/>
                </a:solidFill>
              </a:rPr>
              <a:t> + 2(</a:t>
            </a:r>
            <a:r>
              <a:rPr lang="en-US" sz="2400" dirty="0" err="1">
                <a:solidFill>
                  <a:schemeClr val="tx1"/>
                </a:solidFill>
              </a:rPr>
              <a:t>d</a:t>
            </a:r>
            <a:r>
              <a:rPr lang="en-US" sz="2400" baseline="-25000" dirty="0" err="1">
                <a:solidFill>
                  <a:schemeClr val="tx1"/>
                </a:solidFill>
              </a:rPr>
              <a:t>y</a:t>
            </a:r>
            <a:r>
              <a:rPr lang="en-US" sz="2400" dirty="0">
                <a:solidFill>
                  <a:schemeClr val="tx1"/>
                </a:solidFill>
              </a:rPr>
              <a:t>-d</a:t>
            </a:r>
            <a:r>
              <a:rPr lang="en-US" sz="2400" baseline="-25000" dirty="0">
                <a:solidFill>
                  <a:schemeClr val="tx1"/>
                </a:solidFill>
              </a:rPr>
              <a:t>x</a:t>
            </a:r>
            <a:r>
              <a:rPr lang="en-US" sz="2400" dirty="0">
                <a:solidFill>
                  <a:schemeClr val="tx1"/>
                </a:solidFill>
              </a:rPr>
              <a:t>)</a:t>
            </a:r>
          </a:p>
          <a:p>
            <a:r>
              <a:rPr lang="en-US" sz="2400" dirty="0">
                <a:solidFill>
                  <a:schemeClr val="tx1"/>
                </a:solidFill>
              </a:rPr>
              <a:t>	x</a:t>
            </a:r>
            <a:r>
              <a:rPr lang="en-US" sz="2400" baseline="-25000" dirty="0">
                <a:solidFill>
                  <a:schemeClr val="tx1"/>
                </a:solidFill>
              </a:rPr>
              <a:t>i+1 </a:t>
            </a:r>
            <a:r>
              <a:rPr lang="en-US" sz="2400" dirty="0">
                <a:solidFill>
                  <a:schemeClr val="tx1"/>
                </a:solidFill>
              </a:rPr>
              <a:t>= x</a:t>
            </a:r>
            <a:r>
              <a:rPr lang="en-US" sz="2400" baseline="-25000" dirty="0">
                <a:solidFill>
                  <a:schemeClr val="tx1"/>
                </a:solidFill>
              </a:rPr>
              <a:t>i</a:t>
            </a:r>
            <a:r>
              <a:rPr lang="en-US" sz="2400" dirty="0">
                <a:solidFill>
                  <a:schemeClr val="tx1"/>
                </a:solidFill>
              </a:rPr>
              <a:t>+1</a:t>
            </a:r>
          </a:p>
          <a:p>
            <a:r>
              <a:rPr lang="en-US" sz="2400" dirty="0">
                <a:solidFill>
                  <a:schemeClr val="tx1"/>
                </a:solidFill>
              </a:rPr>
              <a:t>	y</a:t>
            </a:r>
            <a:r>
              <a:rPr lang="en-US" sz="2400" baseline="-25000" dirty="0">
                <a:solidFill>
                  <a:schemeClr val="tx1"/>
                </a:solidFill>
              </a:rPr>
              <a:t>i+1 </a:t>
            </a:r>
            <a:r>
              <a:rPr lang="en-US" sz="2400" dirty="0">
                <a:solidFill>
                  <a:schemeClr val="tx1"/>
                </a:solidFill>
              </a:rPr>
              <a:t>= y</a:t>
            </a:r>
            <a:r>
              <a:rPr lang="en-US" sz="2400" baseline="-25000" dirty="0">
                <a:solidFill>
                  <a:schemeClr val="tx1"/>
                </a:solidFill>
              </a:rPr>
              <a:t>i</a:t>
            </a:r>
            <a:r>
              <a:rPr lang="en-US" sz="2400" dirty="0">
                <a:solidFill>
                  <a:schemeClr val="tx1"/>
                </a:solidFill>
              </a:rPr>
              <a:t>+1</a:t>
            </a:r>
          </a:p>
          <a:p>
            <a:endParaRPr lang="en-US" sz="2400" dirty="0">
              <a:solidFill>
                <a:schemeClr val="tx1"/>
              </a:solidFill>
            </a:endParaRPr>
          </a:p>
          <a:p>
            <a:r>
              <a:rPr lang="en-US" sz="2400" dirty="0">
                <a:solidFill>
                  <a:schemeClr val="tx1"/>
                </a:solidFill>
              </a:rPr>
              <a:t>when d&lt;=0 ----- select E</a:t>
            </a:r>
          </a:p>
          <a:p>
            <a:r>
              <a:rPr lang="en-US" sz="2400" dirty="0">
                <a:solidFill>
                  <a:schemeClr val="tx1"/>
                </a:solidFill>
              </a:rPr>
              <a:t>	</a:t>
            </a:r>
            <a:r>
              <a:rPr lang="en-US" sz="2400" dirty="0" err="1">
                <a:solidFill>
                  <a:schemeClr val="tx1"/>
                </a:solidFill>
              </a:rPr>
              <a:t>d</a:t>
            </a:r>
            <a:r>
              <a:rPr lang="en-US" sz="2400" baseline="-25000" dirty="0" err="1">
                <a:solidFill>
                  <a:schemeClr val="tx1"/>
                </a:solidFill>
              </a:rPr>
              <a:t>new</a:t>
            </a:r>
            <a:r>
              <a:rPr lang="en-US" sz="2400" dirty="0">
                <a:solidFill>
                  <a:schemeClr val="tx1"/>
                </a:solidFill>
              </a:rPr>
              <a:t> = </a:t>
            </a:r>
            <a:r>
              <a:rPr lang="en-US" sz="2400" dirty="0" err="1">
                <a:solidFill>
                  <a:schemeClr val="tx1"/>
                </a:solidFill>
              </a:rPr>
              <a:t>d</a:t>
            </a:r>
            <a:r>
              <a:rPr lang="en-US" sz="2400" baseline="-25000" dirty="0" err="1">
                <a:solidFill>
                  <a:schemeClr val="tx1"/>
                </a:solidFill>
              </a:rPr>
              <a:t>old</a:t>
            </a:r>
            <a:r>
              <a:rPr lang="en-US" sz="2400" dirty="0">
                <a:solidFill>
                  <a:schemeClr val="tx1"/>
                </a:solidFill>
              </a:rPr>
              <a:t> + 2d</a:t>
            </a:r>
            <a:r>
              <a:rPr lang="en-US" sz="2400" baseline="-25000" dirty="0">
                <a:solidFill>
                  <a:schemeClr val="tx1"/>
                </a:solidFill>
              </a:rPr>
              <a:t>y</a:t>
            </a:r>
            <a:endParaRPr lang="en-US" sz="2400" dirty="0">
              <a:solidFill>
                <a:schemeClr val="tx1"/>
              </a:solidFill>
            </a:endParaRPr>
          </a:p>
          <a:p>
            <a:r>
              <a:rPr lang="en-US" sz="2400" dirty="0">
                <a:solidFill>
                  <a:schemeClr val="tx1"/>
                </a:solidFill>
              </a:rPr>
              <a:t>	x</a:t>
            </a:r>
            <a:r>
              <a:rPr lang="en-US" sz="2400" baseline="-25000" dirty="0">
                <a:solidFill>
                  <a:schemeClr val="tx1"/>
                </a:solidFill>
              </a:rPr>
              <a:t>i+1 </a:t>
            </a:r>
            <a:r>
              <a:rPr lang="en-US" sz="2400" dirty="0">
                <a:solidFill>
                  <a:schemeClr val="tx1"/>
                </a:solidFill>
              </a:rPr>
              <a:t>= x</a:t>
            </a:r>
            <a:r>
              <a:rPr lang="en-US" sz="2400" baseline="-25000" dirty="0">
                <a:solidFill>
                  <a:schemeClr val="tx1"/>
                </a:solidFill>
              </a:rPr>
              <a:t>i</a:t>
            </a:r>
            <a:r>
              <a:rPr lang="en-US" sz="2400" dirty="0">
                <a:solidFill>
                  <a:schemeClr val="tx1"/>
                </a:solidFill>
              </a:rPr>
              <a:t>+1</a:t>
            </a:r>
          </a:p>
          <a:p>
            <a:r>
              <a:rPr lang="en-US" sz="2400" dirty="0">
                <a:solidFill>
                  <a:schemeClr val="tx1"/>
                </a:solidFill>
              </a:rPr>
              <a:t>	y</a:t>
            </a:r>
            <a:r>
              <a:rPr lang="en-US" sz="2400" baseline="-25000" dirty="0">
                <a:solidFill>
                  <a:schemeClr val="tx1"/>
                </a:solidFill>
              </a:rPr>
              <a:t>i+1 </a:t>
            </a:r>
            <a:r>
              <a:rPr lang="en-US" sz="2400" dirty="0">
                <a:solidFill>
                  <a:schemeClr val="tx1"/>
                </a:solidFill>
              </a:rPr>
              <a:t>= </a:t>
            </a:r>
            <a:r>
              <a:rPr lang="en-US" sz="2400" dirty="0" err="1">
                <a:solidFill>
                  <a:schemeClr val="tx1"/>
                </a:solidFill>
              </a:rPr>
              <a:t>y</a:t>
            </a:r>
            <a:r>
              <a:rPr lang="en-US" sz="2400" baseline="-25000" dirty="0" err="1">
                <a:solidFill>
                  <a:schemeClr val="tx1"/>
                </a:solidFill>
              </a:rPr>
              <a:t>i</a:t>
            </a:r>
            <a:endParaRPr lang="en-US" sz="2400" dirty="0">
              <a:solidFill>
                <a:schemeClr val="tx1"/>
              </a:solidFill>
            </a:endParaRPr>
          </a:p>
        </p:txBody>
      </p:sp>
    </p:spTree>
    <p:extLst>
      <p:ext uri="{BB962C8B-B14F-4D97-AF65-F5344CB8AC3E}">
        <p14:creationId xmlns:p14="http://schemas.microsoft.com/office/powerpoint/2010/main" val="41634479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B3EA7-842A-4140-8B5A-525E5A9DA664}"/>
              </a:ext>
            </a:extLst>
          </p:cNvPr>
          <p:cNvSpPr>
            <a:spLocks noGrp="1"/>
          </p:cNvSpPr>
          <p:nvPr>
            <p:ph type="ctrTitle"/>
          </p:nvPr>
        </p:nvSpPr>
        <p:spPr>
          <a:xfrm>
            <a:off x="421341" y="449005"/>
            <a:ext cx="8246454" cy="1088136"/>
          </a:xfrm>
        </p:spPr>
        <p:txBody>
          <a:bodyPr>
            <a:normAutofit/>
          </a:bodyPr>
          <a:lstStyle/>
          <a:p>
            <a:r>
              <a:rPr lang="en-US" sz="3200" dirty="0" err="1"/>
              <a:t>Bresenham's</a:t>
            </a:r>
            <a:r>
              <a:rPr lang="en-US" sz="3200" dirty="0"/>
              <a:t> Mid Point Line Algorithm</a:t>
            </a:r>
          </a:p>
        </p:txBody>
      </p:sp>
      <p:sp>
        <p:nvSpPr>
          <p:cNvPr id="3" name="Subtitle 2">
            <a:extLst>
              <a:ext uri="{FF2B5EF4-FFF2-40B4-BE49-F238E27FC236}">
                <a16:creationId xmlns:a16="http://schemas.microsoft.com/office/drawing/2014/main" id="{21BBD8E2-CD93-4095-881B-17F0302C7797}"/>
              </a:ext>
            </a:extLst>
          </p:cNvPr>
          <p:cNvSpPr>
            <a:spLocks noGrp="1"/>
          </p:cNvSpPr>
          <p:nvPr>
            <p:ph type="subTitle" idx="1"/>
          </p:nvPr>
        </p:nvSpPr>
        <p:spPr/>
        <p:txBody>
          <a:bodyPr/>
          <a:lstStyle/>
          <a:p>
            <a:r>
              <a:rPr lang="en-US" dirty="0"/>
              <a:t>Slop(m) &gt; 1</a:t>
            </a:r>
          </a:p>
        </p:txBody>
      </p:sp>
      <p:sp>
        <p:nvSpPr>
          <p:cNvPr id="7" name="Content Placeholder 2">
            <a:extLst>
              <a:ext uri="{FF2B5EF4-FFF2-40B4-BE49-F238E27FC236}">
                <a16:creationId xmlns:a16="http://schemas.microsoft.com/office/drawing/2014/main" id="{C366F44A-D79A-47D2-AC5F-D6756C769366}"/>
              </a:ext>
            </a:extLst>
          </p:cNvPr>
          <p:cNvSpPr txBox="1">
            <a:spLocks/>
          </p:cNvSpPr>
          <p:nvPr/>
        </p:nvSpPr>
        <p:spPr>
          <a:xfrm>
            <a:off x="814887" y="2044502"/>
            <a:ext cx="7076747" cy="4237881"/>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sz="2400" dirty="0" err="1">
                <a:solidFill>
                  <a:schemeClr val="tx1"/>
                </a:solidFill>
              </a:rPr>
              <a:t>d</a:t>
            </a:r>
            <a:r>
              <a:rPr lang="en-US" sz="2400" baseline="-25000" dirty="0" err="1">
                <a:solidFill>
                  <a:schemeClr val="tx1"/>
                </a:solidFill>
              </a:rPr>
              <a:t>start</a:t>
            </a:r>
            <a:r>
              <a:rPr lang="en-US" sz="2400" dirty="0">
                <a:solidFill>
                  <a:schemeClr val="tx1"/>
                </a:solidFill>
              </a:rPr>
              <a:t> = 2d</a:t>
            </a:r>
            <a:r>
              <a:rPr lang="en-US" sz="2400" baseline="-25000" dirty="0">
                <a:solidFill>
                  <a:schemeClr val="tx1"/>
                </a:solidFill>
              </a:rPr>
              <a:t>x</a:t>
            </a:r>
            <a:r>
              <a:rPr lang="en-US" sz="2400" dirty="0">
                <a:solidFill>
                  <a:schemeClr val="tx1"/>
                </a:solidFill>
              </a:rPr>
              <a:t>-d</a:t>
            </a:r>
            <a:r>
              <a:rPr lang="en-US" sz="2400" baseline="-25000" dirty="0">
                <a:solidFill>
                  <a:schemeClr val="tx1"/>
                </a:solidFill>
              </a:rPr>
              <a:t>y</a:t>
            </a:r>
          </a:p>
          <a:p>
            <a:endParaRPr lang="en-US" sz="2400" dirty="0">
              <a:solidFill>
                <a:schemeClr val="tx1"/>
              </a:solidFill>
            </a:endParaRPr>
          </a:p>
          <a:p>
            <a:r>
              <a:rPr lang="en-US" sz="2400" dirty="0">
                <a:solidFill>
                  <a:schemeClr val="tx1"/>
                </a:solidFill>
              </a:rPr>
              <a:t>when d&gt;0 ----- select NE</a:t>
            </a:r>
          </a:p>
          <a:p>
            <a:r>
              <a:rPr lang="en-US" sz="2400" dirty="0">
                <a:solidFill>
                  <a:schemeClr val="tx1"/>
                </a:solidFill>
              </a:rPr>
              <a:t>	</a:t>
            </a:r>
            <a:r>
              <a:rPr lang="en-US" sz="2400" dirty="0" err="1">
                <a:solidFill>
                  <a:schemeClr val="tx1"/>
                </a:solidFill>
              </a:rPr>
              <a:t>d</a:t>
            </a:r>
            <a:r>
              <a:rPr lang="en-US" sz="2400" baseline="-25000" dirty="0" err="1">
                <a:solidFill>
                  <a:schemeClr val="tx1"/>
                </a:solidFill>
              </a:rPr>
              <a:t>new</a:t>
            </a:r>
            <a:r>
              <a:rPr lang="en-US" sz="2400" dirty="0">
                <a:solidFill>
                  <a:schemeClr val="tx1"/>
                </a:solidFill>
              </a:rPr>
              <a:t> = </a:t>
            </a:r>
            <a:r>
              <a:rPr lang="en-US" sz="2400" dirty="0" err="1">
                <a:solidFill>
                  <a:schemeClr val="tx1"/>
                </a:solidFill>
              </a:rPr>
              <a:t>d</a:t>
            </a:r>
            <a:r>
              <a:rPr lang="en-US" sz="2400" baseline="-25000" dirty="0" err="1">
                <a:solidFill>
                  <a:schemeClr val="tx1"/>
                </a:solidFill>
              </a:rPr>
              <a:t>old</a:t>
            </a:r>
            <a:r>
              <a:rPr lang="en-US" sz="2400" dirty="0">
                <a:solidFill>
                  <a:schemeClr val="tx1"/>
                </a:solidFill>
              </a:rPr>
              <a:t> + 2(d</a:t>
            </a:r>
            <a:r>
              <a:rPr lang="en-US" sz="2400" baseline="-25000" dirty="0">
                <a:solidFill>
                  <a:schemeClr val="tx1"/>
                </a:solidFill>
              </a:rPr>
              <a:t>x</a:t>
            </a:r>
            <a:r>
              <a:rPr lang="en-US" sz="2400" dirty="0">
                <a:solidFill>
                  <a:schemeClr val="tx1"/>
                </a:solidFill>
              </a:rPr>
              <a:t>-</a:t>
            </a:r>
            <a:r>
              <a:rPr lang="en-US" sz="2400" dirty="0" err="1">
                <a:solidFill>
                  <a:schemeClr val="tx1"/>
                </a:solidFill>
              </a:rPr>
              <a:t>d</a:t>
            </a:r>
            <a:r>
              <a:rPr lang="en-US" sz="2400" baseline="-25000" dirty="0" err="1">
                <a:solidFill>
                  <a:schemeClr val="tx1"/>
                </a:solidFill>
              </a:rPr>
              <a:t>y</a:t>
            </a:r>
            <a:r>
              <a:rPr lang="en-US" sz="2400" dirty="0">
                <a:solidFill>
                  <a:schemeClr val="tx1"/>
                </a:solidFill>
              </a:rPr>
              <a:t>)</a:t>
            </a:r>
          </a:p>
          <a:p>
            <a:r>
              <a:rPr lang="en-US" sz="2400" dirty="0">
                <a:solidFill>
                  <a:schemeClr val="tx1"/>
                </a:solidFill>
              </a:rPr>
              <a:t>	x</a:t>
            </a:r>
            <a:r>
              <a:rPr lang="en-US" sz="2400" baseline="-25000" dirty="0">
                <a:solidFill>
                  <a:schemeClr val="tx1"/>
                </a:solidFill>
              </a:rPr>
              <a:t>i+1 </a:t>
            </a:r>
            <a:r>
              <a:rPr lang="en-US" sz="2400" dirty="0">
                <a:solidFill>
                  <a:schemeClr val="tx1"/>
                </a:solidFill>
              </a:rPr>
              <a:t>= x</a:t>
            </a:r>
            <a:r>
              <a:rPr lang="en-US" sz="2400" baseline="-25000" dirty="0">
                <a:solidFill>
                  <a:schemeClr val="tx1"/>
                </a:solidFill>
              </a:rPr>
              <a:t>i</a:t>
            </a:r>
            <a:r>
              <a:rPr lang="en-US" sz="2400" dirty="0">
                <a:solidFill>
                  <a:schemeClr val="tx1"/>
                </a:solidFill>
              </a:rPr>
              <a:t>+1</a:t>
            </a:r>
          </a:p>
          <a:p>
            <a:r>
              <a:rPr lang="en-US" sz="2400" dirty="0">
                <a:solidFill>
                  <a:schemeClr val="tx1"/>
                </a:solidFill>
              </a:rPr>
              <a:t>	y</a:t>
            </a:r>
            <a:r>
              <a:rPr lang="en-US" sz="2400" baseline="-25000" dirty="0">
                <a:solidFill>
                  <a:schemeClr val="tx1"/>
                </a:solidFill>
              </a:rPr>
              <a:t>i+1 </a:t>
            </a:r>
            <a:r>
              <a:rPr lang="en-US" sz="2400" dirty="0">
                <a:solidFill>
                  <a:schemeClr val="tx1"/>
                </a:solidFill>
              </a:rPr>
              <a:t>= y</a:t>
            </a:r>
            <a:r>
              <a:rPr lang="en-US" sz="2400" baseline="-25000" dirty="0">
                <a:solidFill>
                  <a:schemeClr val="tx1"/>
                </a:solidFill>
              </a:rPr>
              <a:t>i</a:t>
            </a:r>
            <a:r>
              <a:rPr lang="en-US" sz="2400" dirty="0">
                <a:solidFill>
                  <a:schemeClr val="tx1"/>
                </a:solidFill>
              </a:rPr>
              <a:t>+1</a:t>
            </a:r>
          </a:p>
          <a:p>
            <a:endParaRPr lang="en-US" sz="2400" dirty="0">
              <a:solidFill>
                <a:schemeClr val="tx1"/>
              </a:solidFill>
            </a:endParaRPr>
          </a:p>
          <a:p>
            <a:r>
              <a:rPr lang="en-US" sz="2400" dirty="0">
                <a:solidFill>
                  <a:schemeClr val="tx1"/>
                </a:solidFill>
              </a:rPr>
              <a:t>when d&lt;=0 ----- select N</a:t>
            </a:r>
          </a:p>
          <a:p>
            <a:r>
              <a:rPr lang="en-US" sz="2400" dirty="0">
                <a:solidFill>
                  <a:schemeClr val="tx1"/>
                </a:solidFill>
              </a:rPr>
              <a:t>	</a:t>
            </a:r>
            <a:r>
              <a:rPr lang="en-US" sz="2400" dirty="0" err="1">
                <a:solidFill>
                  <a:schemeClr val="tx1"/>
                </a:solidFill>
              </a:rPr>
              <a:t>d</a:t>
            </a:r>
            <a:r>
              <a:rPr lang="en-US" sz="2400" baseline="-25000" dirty="0" err="1">
                <a:solidFill>
                  <a:schemeClr val="tx1"/>
                </a:solidFill>
              </a:rPr>
              <a:t>new</a:t>
            </a:r>
            <a:r>
              <a:rPr lang="en-US" sz="2400" dirty="0">
                <a:solidFill>
                  <a:schemeClr val="tx1"/>
                </a:solidFill>
              </a:rPr>
              <a:t> = </a:t>
            </a:r>
            <a:r>
              <a:rPr lang="en-US" sz="2400" dirty="0" err="1">
                <a:solidFill>
                  <a:schemeClr val="tx1"/>
                </a:solidFill>
              </a:rPr>
              <a:t>d</a:t>
            </a:r>
            <a:r>
              <a:rPr lang="en-US" sz="2400" baseline="-25000" dirty="0" err="1">
                <a:solidFill>
                  <a:schemeClr val="tx1"/>
                </a:solidFill>
              </a:rPr>
              <a:t>old</a:t>
            </a:r>
            <a:r>
              <a:rPr lang="en-US" sz="2400" dirty="0">
                <a:solidFill>
                  <a:schemeClr val="tx1"/>
                </a:solidFill>
              </a:rPr>
              <a:t> + 2d</a:t>
            </a:r>
            <a:r>
              <a:rPr lang="en-US" sz="2400" baseline="-25000" dirty="0">
                <a:solidFill>
                  <a:schemeClr val="tx1"/>
                </a:solidFill>
              </a:rPr>
              <a:t>x</a:t>
            </a:r>
            <a:endParaRPr lang="en-US" sz="2400" dirty="0">
              <a:solidFill>
                <a:schemeClr val="tx1"/>
              </a:solidFill>
            </a:endParaRPr>
          </a:p>
          <a:p>
            <a:r>
              <a:rPr lang="en-US" sz="2400" dirty="0">
                <a:solidFill>
                  <a:schemeClr val="tx1"/>
                </a:solidFill>
              </a:rPr>
              <a:t>	x</a:t>
            </a:r>
            <a:r>
              <a:rPr lang="en-US" sz="2400" baseline="-25000" dirty="0">
                <a:solidFill>
                  <a:schemeClr val="tx1"/>
                </a:solidFill>
              </a:rPr>
              <a:t>i+1 </a:t>
            </a:r>
            <a:r>
              <a:rPr lang="en-US" sz="2400" dirty="0">
                <a:solidFill>
                  <a:schemeClr val="tx1"/>
                </a:solidFill>
              </a:rPr>
              <a:t>= x</a:t>
            </a:r>
            <a:r>
              <a:rPr lang="en-US" sz="2400" baseline="-25000" dirty="0">
                <a:solidFill>
                  <a:schemeClr val="tx1"/>
                </a:solidFill>
              </a:rPr>
              <a:t>i</a:t>
            </a:r>
            <a:endParaRPr lang="en-US" sz="2400" dirty="0">
              <a:solidFill>
                <a:schemeClr val="tx1"/>
              </a:solidFill>
            </a:endParaRPr>
          </a:p>
          <a:p>
            <a:r>
              <a:rPr lang="en-US" sz="2400" dirty="0">
                <a:solidFill>
                  <a:schemeClr val="tx1"/>
                </a:solidFill>
              </a:rPr>
              <a:t>	y</a:t>
            </a:r>
            <a:r>
              <a:rPr lang="en-US" sz="2400" baseline="-25000" dirty="0">
                <a:solidFill>
                  <a:schemeClr val="tx1"/>
                </a:solidFill>
              </a:rPr>
              <a:t>i+1 </a:t>
            </a:r>
            <a:r>
              <a:rPr lang="en-US" sz="2400" dirty="0">
                <a:solidFill>
                  <a:schemeClr val="tx1"/>
                </a:solidFill>
              </a:rPr>
              <a:t>= y</a:t>
            </a:r>
            <a:r>
              <a:rPr lang="en-US" sz="2400" baseline="-25000" dirty="0">
                <a:solidFill>
                  <a:schemeClr val="tx1"/>
                </a:solidFill>
              </a:rPr>
              <a:t>i</a:t>
            </a:r>
            <a:r>
              <a:rPr lang="en-US" sz="2400" dirty="0">
                <a:solidFill>
                  <a:schemeClr val="tx1"/>
                </a:solidFill>
              </a:rPr>
              <a:t>+1</a:t>
            </a:r>
          </a:p>
        </p:txBody>
      </p:sp>
    </p:spTree>
    <p:extLst>
      <p:ext uri="{BB962C8B-B14F-4D97-AF65-F5344CB8AC3E}">
        <p14:creationId xmlns:p14="http://schemas.microsoft.com/office/powerpoint/2010/main" val="2348940164"/>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Spectrum.thmx</Template>
  <TotalTime>590</TotalTime>
  <Words>1113</Words>
  <Application>Microsoft Office PowerPoint</Application>
  <PresentationFormat>On-screen Show (4:3)</PresentationFormat>
  <Paragraphs>200</Paragraphs>
  <Slides>48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Corbel</vt:lpstr>
      <vt:lpstr>Wingdings</vt:lpstr>
      <vt:lpstr>Spectrum</vt:lpstr>
      <vt:lpstr>Scan Conversation (Part 1)</vt:lpstr>
      <vt:lpstr>Lecture Outline</vt:lpstr>
      <vt:lpstr>Scan Conversation</vt:lpstr>
      <vt:lpstr>Rasterisation</vt:lpstr>
      <vt:lpstr>Incremental Algorithm</vt:lpstr>
      <vt:lpstr>Incremental Algorithm</vt:lpstr>
      <vt:lpstr>Incremental Algorithm</vt:lpstr>
      <vt:lpstr>Incremental Algorithm</vt:lpstr>
      <vt:lpstr>Incremental Algorithm</vt:lpstr>
      <vt:lpstr>Incremental Algorithm</vt:lpstr>
      <vt:lpstr>Digital Differential Analyzer (DDA)</vt:lpstr>
      <vt:lpstr>Digital Differential Analyzer (DDA)</vt:lpstr>
      <vt:lpstr>Digital Differential Analyzer (DDA)</vt:lpstr>
      <vt:lpstr>Digital Differential Analyzer (DDA)</vt:lpstr>
      <vt:lpstr>Digital Differential Analyzer (DDA)</vt:lpstr>
      <vt:lpstr>Digital Differential Analyzer (DDA)</vt:lpstr>
      <vt:lpstr>Digital Differential Analyzer (DDA)</vt:lpstr>
      <vt:lpstr>Digital Differential Analyzer (DDA)</vt:lpstr>
      <vt:lpstr>Digital Differential Analyzer (DDA)</vt:lpstr>
      <vt:lpstr>Digital Differential Analyzer (DDA)</vt:lpstr>
      <vt:lpstr>Digital Differential Analyzer (DDA)</vt:lpstr>
      <vt:lpstr>Digital Differential Analyzer (DDA)</vt:lpstr>
      <vt:lpstr>Digital Differential Analyzer (DDA)</vt:lpstr>
      <vt:lpstr>Bresenham's Mid Point Line Algorithm</vt:lpstr>
      <vt:lpstr>Bresenham's Mid Point Line Algorithm</vt:lpstr>
      <vt:lpstr>Bresenham's Mid Point Line Algorithm</vt:lpstr>
      <vt:lpstr>Bresenham's Mid Point Line Algorithm</vt:lpstr>
      <vt:lpstr>Bresenham's Mid Point Line Algorithm</vt:lpstr>
      <vt:lpstr>Bresenham's Mid Point Line Algorithm</vt:lpstr>
      <vt:lpstr>Bresenham's Mid Point Line Algorithm</vt:lpstr>
      <vt:lpstr>Bresenham's Mid Point Line Algorithm</vt:lpstr>
      <vt:lpstr>Bresenham's Mid Point Line Algorithm</vt:lpstr>
      <vt:lpstr>Bresenham's Mid Point Line Algorithm</vt:lpstr>
      <vt:lpstr>Bresenham's Mid Point Line Algorithm</vt:lpstr>
      <vt:lpstr>Bresenham's Mid Point Line Algorithm</vt:lpstr>
      <vt:lpstr>Bresenham's Mid Point Line Algorithm</vt:lpstr>
      <vt:lpstr>Bresenham's Mid Point Line Algorithm</vt:lpstr>
      <vt:lpstr>Bresenham's Mid Point Line Algorithm</vt:lpstr>
      <vt:lpstr>Bresenham's Mid Point Line Algorithm</vt:lpstr>
      <vt:lpstr>Bresenham's Mid Point Line Algorithm</vt:lpstr>
      <vt:lpstr>Bresenham's Mid Point Line Algorithm</vt:lpstr>
      <vt:lpstr>Bresenham's Mid Point Line Algorithm</vt:lpstr>
      <vt:lpstr>Bresenham's Mid Point Line Algorithm</vt:lpstr>
      <vt:lpstr>Bresenham's Mid Point Line Algorithm</vt:lpstr>
      <vt:lpstr>PowerPoint Presentation</vt:lpstr>
      <vt:lpstr>PowerPoint Presentation</vt:lpstr>
      <vt:lpstr>Bresenham's Mid Point Line Algorithm</vt:lpstr>
      <vt:lpstr>Bresenham's Mid Point Line Algorithm</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KAZI ASIF AHMED</cp:lastModifiedBy>
  <cp:revision>50</cp:revision>
  <dcterms:created xsi:type="dcterms:W3CDTF">2018-12-10T17:20:29Z</dcterms:created>
  <dcterms:modified xsi:type="dcterms:W3CDTF">2026-06-20T14:29:32Z</dcterms:modified>
</cp:coreProperties>
</file>